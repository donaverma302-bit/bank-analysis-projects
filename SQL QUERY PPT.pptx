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Montserrat Bold" charset="1" panose="00000800000000000000"/>
      <p:regular r:id="rId19"/>
    </p:embeddedFont>
    <p:embeddedFont>
      <p:font typeface="Open Sans" charset="1" panose="00000000000000000000"/>
      <p:regular r:id="rId20"/>
    </p:embeddedFont>
    <p:embeddedFont>
      <p:font typeface="Open Sans Bold" charset="1" panose="00000000000000000000"/>
      <p:regular r:id="rId21"/>
    </p:embeddedFont>
    <p:embeddedFont>
      <p:font typeface="B612 Bold" charset="1" panose="020B0606050000020004"/>
      <p:regular r:id="rId22"/>
    </p:embeddedFont>
    <p:embeddedFont>
      <p:font typeface="Poppins Bold" charset="1" panose="00000800000000000000"/>
      <p:regular r:id="rId23"/>
    </p:embeddedFont>
    <p:embeddedFont>
      <p:font typeface="Montserrat" charset="1" panose="00000500000000000000"/>
      <p:regular r:id="rId24"/>
    </p:embeddedFont>
    <p:embeddedFont>
      <p:font typeface="Garet" charset="1" panose="0000000000000000000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 Id="rId4" Target="../media/image9.png" Type="http://schemas.openxmlformats.org/officeDocument/2006/relationships/image"/><Relationship Id="rId5" Target="../media/image10.png" Type="http://schemas.openxmlformats.org/officeDocument/2006/relationships/image"/><Relationship Id="rId6" Target="../media/image11.png" Type="http://schemas.openxmlformats.org/officeDocument/2006/relationships/image"/><Relationship Id="rId7" Target="../media/image1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png" Type="http://schemas.openxmlformats.org/officeDocument/2006/relationships/image"/><Relationship Id="rId4" Target="../media/image1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 Id="rId4" Target="../media/image1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png" Type="http://schemas.openxmlformats.org/officeDocument/2006/relationships/image"/><Relationship Id="rId4" Target="../media/image21.png" Type="http://schemas.openxmlformats.org/officeDocument/2006/relationships/image"/><Relationship Id="rId5" Target="../media/image2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30D33">
                <a:alpha val="100000"/>
              </a:srgbClr>
            </a:gs>
            <a:gs pos="100000">
              <a:srgbClr val="003537">
                <a:alpha val="100000"/>
              </a:srgbClr>
            </a:gs>
          </a:gsLst>
          <a:lin ang="0"/>
        </a:gradFill>
      </p:bgPr>
    </p:bg>
    <p:spTree>
      <p:nvGrpSpPr>
        <p:cNvPr id="1" name=""/>
        <p:cNvGrpSpPr/>
        <p:nvPr/>
      </p:nvGrpSpPr>
      <p:grpSpPr>
        <a:xfrm>
          <a:off x="0" y="0"/>
          <a:ext cx="0" cy="0"/>
          <a:chOff x="0" y="0"/>
          <a:chExt cx="0" cy="0"/>
        </a:xfrm>
      </p:grpSpPr>
      <p:sp>
        <p:nvSpPr>
          <p:cNvPr name="TextBox 2" id="2"/>
          <p:cNvSpPr txBox="true"/>
          <p:nvPr/>
        </p:nvSpPr>
        <p:spPr>
          <a:xfrm rot="0">
            <a:off x="2598286" y="4268364"/>
            <a:ext cx="12746271" cy="1945054"/>
          </a:xfrm>
          <a:prstGeom prst="rect">
            <a:avLst/>
          </a:prstGeom>
        </p:spPr>
        <p:txBody>
          <a:bodyPr anchor="t" rtlCol="false" tIns="0" lIns="0" bIns="0" rIns="0">
            <a:spAutoFit/>
          </a:bodyPr>
          <a:lstStyle/>
          <a:p>
            <a:pPr algn="ctr">
              <a:lnSpc>
                <a:spcPts val="7594"/>
              </a:lnSpc>
            </a:pPr>
            <a:r>
              <a:rPr lang="en-US" b="true" sz="6903">
                <a:solidFill>
                  <a:srgbClr val="FFFFFF"/>
                </a:solidFill>
                <a:latin typeface="Montserrat Bold"/>
                <a:ea typeface="Montserrat Bold"/>
                <a:cs typeface="Montserrat Bold"/>
                <a:sym typeface="Montserrat Bold"/>
              </a:rPr>
              <a:t>BANK ANALYTICS PROJECT</a:t>
            </a:r>
          </a:p>
          <a:p>
            <a:pPr algn="ctr">
              <a:lnSpc>
                <a:spcPts val="7594"/>
              </a:lnSpc>
            </a:pPr>
            <a:r>
              <a:rPr lang="en-US" sz="6903" b="true">
                <a:solidFill>
                  <a:srgbClr val="FFFFFF"/>
                </a:solidFill>
                <a:latin typeface="Montserrat Bold"/>
                <a:ea typeface="Montserrat Bold"/>
                <a:cs typeface="Montserrat Bold"/>
                <a:sym typeface="Montserrat Bold"/>
              </a:rPr>
              <a:t>Group Number: 6</a:t>
            </a:r>
          </a:p>
        </p:txBody>
      </p:sp>
      <p:sp>
        <p:nvSpPr>
          <p:cNvPr name="Freeform 3" id="3"/>
          <p:cNvSpPr/>
          <p:nvPr/>
        </p:nvSpPr>
        <p:spPr>
          <a:xfrm flipH="false" flipV="false" rot="0">
            <a:off x="1028700" y="1028700"/>
            <a:ext cx="650744" cy="515862"/>
          </a:xfrm>
          <a:custGeom>
            <a:avLst/>
            <a:gdLst/>
            <a:ahLst/>
            <a:cxnLst/>
            <a:rect r="r" b="b" t="t" l="l"/>
            <a:pathLst>
              <a:path h="515862" w="650744">
                <a:moveTo>
                  <a:pt x="0" y="0"/>
                </a:moveTo>
                <a:lnTo>
                  <a:pt x="650744" y="0"/>
                </a:lnTo>
                <a:lnTo>
                  <a:pt x="650744" y="515862"/>
                </a:lnTo>
                <a:lnTo>
                  <a:pt x="0" y="5158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4" id="4"/>
          <p:cNvSpPr/>
          <p:nvPr/>
        </p:nvSpPr>
        <p:spPr>
          <a:xfrm>
            <a:off x="7558567" y="7922448"/>
            <a:ext cx="6989044" cy="0"/>
          </a:xfrm>
          <a:prstGeom prst="line">
            <a:avLst/>
          </a:prstGeom>
          <a:ln cap="flat" w="66675">
            <a:gradFill>
              <a:gsLst>
                <a:gs pos="0">
                  <a:srgbClr val="4EA46A">
                    <a:alpha val="100000"/>
                  </a:srgbClr>
                </a:gs>
                <a:gs pos="100000">
                  <a:srgbClr val="005C57">
                    <a:alpha val="100000"/>
                  </a:srgbClr>
                </a:gs>
              </a:gsLst>
              <a:lin ang="0"/>
            </a:gradFill>
            <a:prstDash val="solid"/>
            <a:headEnd type="none" len="sm" w="sm"/>
            <a:tailEnd type="none" len="sm" w="sm"/>
          </a:ln>
        </p:spPr>
      </p:sp>
      <p:grpSp>
        <p:nvGrpSpPr>
          <p:cNvPr name="Group 5" id="5"/>
          <p:cNvGrpSpPr/>
          <p:nvPr/>
        </p:nvGrpSpPr>
        <p:grpSpPr>
          <a:xfrm rot="0">
            <a:off x="3740388" y="7553825"/>
            <a:ext cx="3981900" cy="737246"/>
            <a:chOff x="0" y="0"/>
            <a:chExt cx="2194986" cy="406400"/>
          </a:xfrm>
        </p:grpSpPr>
        <p:sp>
          <p:nvSpPr>
            <p:cNvPr name="Freeform 6" id="6"/>
            <p:cNvSpPr/>
            <p:nvPr/>
          </p:nvSpPr>
          <p:spPr>
            <a:xfrm flipH="false" flipV="false" rot="0">
              <a:off x="0" y="0"/>
              <a:ext cx="2194986" cy="406400"/>
            </a:xfrm>
            <a:custGeom>
              <a:avLst/>
              <a:gdLst/>
              <a:ahLst/>
              <a:cxnLst/>
              <a:rect r="r" b="b" t="t" l="l"/>
              <a:pathLst>
                <a:path h="406400" w="2194986">
                  <a:moveTo>
                    <a:pt x="1991786" y="0"/>
                  </a:moveTo>
                  <a:cubicBezTo>
                    <a:pt x="2104010" y="0"/>
                    <a:pt x="2194986" y="90976"/>
                    <a:pt x="2194986" y="203200"/>
                  </a:cubicBezTo>
                  <a:cubicBezTo>
                    <a:pt x="2194986" y="315424"/>
                    <a:pt x="2104010" y="406400"/>
                    <a:pt x="1991786"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4EA46A">
                    <a:alpha val="100000"/>
                  </a:srgbClr>
                </a:gs>
                <a:gs pos="100000">
                  <a:srgbClr val="005C57">
                    <a:alpha val="100000"/>
                  </a:srgbClr>
                </a:gs>
              </a:gsLst>
              <a:lin ang="0"/>
            </a:gradFill>
            <a:ln cap="sq">
              <a:noFill/>
              <a:prstDash val="solid"/>
              <a:miter/>
            </a:ln>
          </p:spPr>
        </p:sp>
        <p:sp>
          <p:nvSpPr>
            <p:cNvPr name="TextBox 7" id="7"/>
            <p:cNvSpPr txBox="true"/>
            <p:nvPr/>
          </p:nvSpPr>
          <p:spPr>
            <a:xfrm>
              <a:off x="0" y="-47625"/>
              <a:ext cx="2194986" cy="454025"/>
            </a:xfrm>
            <a:prstGeom prst="rect">
              <a:avLst/>
            </a:prstGeom>
          </p:spPr>
          <p:txBody>
            <a:bodyPr anchor="ctr" rtlCol="false" tIns="31690" lIns="31690" bIns="31690" rIns="31690"/>
            <a:lstStyle/>
            <a:p>
              <a:pPr algn="ctr" marL="0" indent="0" lvl="0">
                <a:lnSpc>
                  <a:spcPts val="3220"/>
                </a:lnSpc>
                <a:spcBef>
                  <a:spcPct val="0"/>
                </a:spcBef>
              </a:pPr>
            </a:p>
          </p:txBody>
        </p:sp>
      </p:grpSp>
      <p:grpSp>
        <p:nvGrpSpPr>
          <p:cNvPr name="Group 8" id="8"/>
          <p:cNvGrpSpPr/>
          <p:nvPr/>
        </p:nvGrpSpPr>
        <p:grpSpPr>
          <a:xfrm rot="0">
            <a:off x="1254367" y="8594705"/>
            <a:ext cx="425077" cy="42507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10" id="10"/>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grpSp>
        <p:nvGrpSpPr>
          <p:cNvPr name="Group 11" id="11"/>
          <p:cNvGrpSpPr/>
          <p:nvPr/>
        </p:nvGrpSpPr>
        <p:grpSpPr>
          <a:xfrm rot="0">
            <a:off x="16429463" y="8593190"/>
            <a:ext cx="293547" cy="293547"/>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13" id="13"/>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grpSp>
        <p:nvGrpSpPr>
          <p:cNvPr name="Group 14" id="14"/>
          <p:cNvGrpSpPr/>
          <p:nvPr/>
        </p:nvGrpSpPr>
        <p:grpSpPr>
          <a:xfrm rot="0">
            <a:off x="14712738" y="3062301"/>
            <a:ext cx="1137437" cy="1137437"/>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16" id="16"/>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grpSp>
        <p:nvGrpSpPr>
          <p:cNvPr name="Group 17" id="17"/>
          <p:cNvGrpSpPr/>
          <p:nvPr/>
        </p:nvGrpSpPr>
        <p:grpSpPr>
          <a:xfrm rot="0">
            <a:off x="15850174" y="4027160"/>
            <a:ext cx="349058" cy="349058"/>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19" id="19"/>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grpSp>
        <p:nvGrpSpPr>
          <p:cNvPr name="Group 20" id="20"/>
          <p:cNvGrpSpPr/>
          <p:nvPr/>
        </p:nvGrpSpPr>
        <p:grpSpPr>
          <a:xfrm rot="0">
            <a:off x="-418546" y="8807243"/>
            <a:ext cx="1971124" cy="1971124"/>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22" id="22"/>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grpSp>
        <p:nvGrpSpPr>
          <p:cNvPr name="Group 23" id="23"/>
          <p:cNvGrpSpPr/>
          <p:nvPr/>
        </p:nvGrpSpPr>
        <p:grpSpPr>
          <a:xfrm rot="0">
            <a:off x="2425708" y="3374103"/>
            <a:ext cx="345156" cy="345156"/>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25" id="25"/>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grpSp>
        <p:nvGrpSpPr>
          <p:cNvPr name="Group 26" id="26"/>
          <p:cNvGrpSpPr/>
          <p:nvPr/>
        </p:nvGrpSpPr>
        <p:grpSpPr>
          <a:xfrm rot="0">
            <a:off x="2744194" y="3269541"/>
            <a:ext cx="155786" cy="155786"/>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28" id="28"/>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sp>
        <p:nvSpPr>
          <p:cNvPr name="TextBox 29" id="29"/>
          <p:cNvSpPr txBox="true"/>
          <p:nvPr/>
        </p:nvSpPr>
        <p:spPr>
          <a:xfrm rot="0">
            <a:off x="858455" y="2592661"/>
            <a:ext cx="16571090" cy="348300"/>
          </a:xfrm>
          <a:prstGeom prst="rect">
            <a:avLst/>
          </a:prstGeom>
        </p:spPr>
        <p:txBody>
          <a:bodyPr anchor="t" rtlCol="false" tIns="0" lIns="0" bIns="0" rIns="0">
            <a:spAutoFit/>
          </a:bodyPr>
          <a:lstStyle/>
          <a:p>
            <a:pPr algn="ctr">
              <a:lnSpc>
                <a:spcPts val="2852"/>
              </a:lnSpc>
            </a:pPr>
            <a:r>
              <a:rPr lang="en-US" b="true" sz="2037" spc="138">
                <a:solidFill>
                  <a:srgbClr val="4EA46A"/>
                </a:solidFill>
                <a:latin typeface="Montserrat Bold"/>
                <a:ea typeface="Montserrat Bold"/>
                <a:cs typeface="Montserrat Bold"/>
                <a:sym typeface="Montserrat Bold"/>
              </a:rPr>
              <a:t>LOAN ANALYSIS USING EXCEL, POWER BI, TABLEAU &amp; MYSQL</a:t>
            </a:r>
          </a:p>
        </p:txBody>
      </p:sp>
      <p:sp>
        <p:nvSpPr>
          <p:cNvPr name="TextBox 30" id="30"/>
          <p:cNvSpPr txBox="true"/>
          <p:nvPr/>
        </p:nvSpPr>
        <p:spPr>
          <a:xfrm rot="0">
            <a:off x="3982323" y="7691685"/>
            <a:ext cx="3498031" cy="413901"/>
          </a:xfrm>
          <a:prstGeom prst="rect">
            <a:avLst/>
          </a:prstGeom>
        </p:spPr>
        <p:txBody>
          <a:bodyPr anchor="t" rtlCol="false" tIns="0" lIns="0" bIns="0" rIns="0">
            <a:spAutoFit/>
          </a:bodyPr>
          <a:lstStyle/>
          <a:p>
            <a:pPr algn="ctr">
              <a:lnSpc>
                <a:spcPts val="3436"/>
              </a:lnSpc>
            </a:pPr>
            <a:r>
              <a:rPr lang="en-US" sz="2454" b="true">
                <a:solidFill>
                  <a:srgbClr val="FFFFFF"/>
                </a:solidFill>
                <a:latin typeface="Montserrat Bold"/>
                <a:ea typeface="Montserrat Bold"/>
                <a:cs typeface="Montserrat Bold"/>
                <a:sym typeface="Montserrat Bold"/>
              </a:rPr>
              <a:t>Start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30D33">
                <a:alpha val="100000"/>
              </a:srgbClr>
            </a:gs>
            <a:gs pos="100000">
              <a:srgbClr val="003537">
                <a:alpha val="100000"/>
              </a:srgbClr>
            </a:gs>
          </a:gsLst>
          <a:lin ang="0"/>
        </a:gradFill>
      </p:bgPr>
    </p:bg>
    <p:spTree>
      <p:nvGrpSpPr>
        <p:cNvPr id="1" name=""/>
        <p:cNvGrpSpPr/>
        <p:nvPr/>
      </p:nvGrpSpPr>
      <p:grpSpPr>
        <a:xfrm>
          <a:off x="0" y="0"/>
          <a:ext cx="0" cy="0"/>
          <a:chOff x="0" y="0"/>
          <a:chExt cx="0" cy="0"/>
        </a:xfrm>
      </p:grpSpPr>
      <p:sp>
        <p:nvSpPr>
          <p:cNvPr name="TextBox 2" id="2"/>
          <p:cNvSpPr txBox="true"/>
          <p:nvPr/>
        </p:nvSpPr>
        <p:spPr>
          <a:xfrm rot="0">
            <a:off x="5272493" y="582537"/>
            <a:ext cx="9078681" cy="962025"/>
          </a:xfrm>
          <a:prstGeom prst="rect">
            <a:avLst/>
          </a:prstGeom>
        </p:spPr>
        <p:txBody>
          <a:bodyPr anchor="t" rtlCol="false" tIns="0" lIns="0" bIns="0" rIns="0">
            <a:spAutoFit/>
          </a:bodyPr>
          <a:lstStyle/>
          <a:p>
            <a:pPr algn="l">
              <a:lnSpc>
                <a:spcPts val="7537"/>
              </a:lnSpc>
            </a:pPr>
            <a:r>
              <a:rPr lang="en-US" sz="6280" b="true">
                <a:solidFill>
                  <a:srgbClr val="FFFFFF"/>
                </a:solidFill>
                <a:latin typeface="Montserrat Bold"/>
                <a:ea typeface="Montserrat Bold"/>
                <a:cs typeface="Montserrat Bold"/>
                <a:sym typeface="Montserrat Bold"/>
              </a:rPr>
              <a:t> Problem  Statement</a:t>
            </a:r>
          </a:p>
        </p:txBody>
      </p:sp>
      <p:sp>
        <p:nvSpPr>
          <p:cNvPr name="Freeform 3" id="3"/>
          <p:cNvSpPr/>
          <p:nvPr/>
        </p:nvSpPr>
        <p:spPr>
          <a:xfrm flipH="false" flipV="false" rot="0">
            <a:off x="1028700" y="1028700"/>
            <a:ext cx="650744" cy="515862"/>
          </a:xfrm>
          <a:custGeom>
            <a:avLst/>
            <a:gdLst/>
            <a:ahLst/>
            <a:cxnLst/>
            <a:rect r="r" b="b" t="t" l="l"/>
            <a:pathLst>
              <a:path h="515862" w="650744">
                <a:moveTo>
                  <a:pt x="0" y="0"/>
                </a:moveTo>
                <a:lnTo>
                  <a:pt x="650744" y="0"/>
                </a:lnTo>
                <a:lnTo>
                  <a:pt x="650744" y="515862"/>
                </a:lnTo>
                <a:lnTo>
                  <a:pt x="0" y="5158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6684564" y="9301438"/>
            <a:ext cx="1971124" cy="1971124"/>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6" id="6"/>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sp>
        <p:nvSpPr>
          <p:cNvPr name="TextBox 7" id="7"/>
          <p:cNvSpPr txBox="true"/>
          <p:nvPr/>
        </p:nvSpPr>
        <p:spPr>
          <a:xfrm rot="0">
            <a:off x="1679444" y="2216913"/>
            <a:ext cx="14220476" cy="5350691"/>
          </a:xfrm>
          <a:prstGeom prst="rect">
            <a:avLst/>
          </a:prstGeom>
        </p:spPr>
        <p:txBody>
          <a:bodyPr anchor="t" rtlCol="false" tIns="0" lIns="0" bIns="0" rIns="0">
            <a:spAutoFit/>
          </a:bodyPr>
          <a:lstStyle/>
          <a:p>
            <a:pPr algn="l">
              <a:lnSpc>
                <a:spcPts val="5352"/>
              </a:lnSpc>
            </a:pPr>
            <a:r>
              <a:rPr lang="en-US" sz="3148">
                <a:solidFill>
                  <a:srgbClr val="FFFFFF">
                    <a:alpha val="80000"/>
                  </a:srgbClr>
                </a:solidFill>
                <a:latin typeface="Open Sans"/>
                <a:ea typeface="Open Sans"/>
                <a:cs typeface="Open Sans"/>
                <a:sym typeface="Open Sans"/>
              </a:rPr>
              <a:t>Financial institutions rely on accurate loan analysis to make informed decisions about approvals, interest rates, and repayment plans. The dataset contains borrower details such as loan amount, interest rate, verification status, payment behaviour, and demographics.</a:t>
            </a:r>
          </a:p>
          <a:p>
            <a:pPr algn="l">
              <a:lnSpc>
                <a:spcPts val="5352"/>
              </a:lnSpc>
            </a:pPr>
            <a:r>
              <a:rPr lang="en-US" sz="3148">
                <a:solidFill>
                  <a:srgbClr val="FFFFFF">
                    <a:alpha val="80000"/>
                  </a:srgbClr>
                </a:solidFill>
                <a:latin typeface="Open Sans"/>
                <a:ea typeface="Open Sans"/>
                <a:cs typeface="Open Sans"/>
                <a:sym typeface="Open Sans"/>
              </a:rPr>
              <a:t>This project focuses on analysing loan trends, assessing customer risk levels, and studying repayment behaviour across different borrower profiles to optimize lending strategies and reduce defaults.</a:t>
            </a:r>
          </a:p>
          <a:p>
            <a:pPr algn="l" marL="0" indent="0" lvl="0">
              <a:lnSpc>
                <a:spcPts val="5352"/>
              </a:lnSpc>
              <a:spcBef>
                <a:spcPct val="0"/>
              </a:spcBef>
            </a:pPr>
          </a:p>
        </p:txBody>
      </p:sp>
      <p:grpSp>
        <p:nvGrpSpPr>
          <p:cNvPr name="Group 8" id="8"/>
          <p:cNvGrpSpPr/>
          <p:nvPr/>
        </p:nvGrpSpPr>
        <p:grpSpPr>
          <a:xfrm rot="0">
            <a:off x="8490180" y="2071380"/>
            <a:ext cx="223236" cy="22323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10" id="10"/>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grpSp>
        <p:nvGrpSpPr>
          <p:cNvPr name="Group 11" id="11"/>
          <p:cNvGrpSpPr/>
          <p:nvPr/>
        </p:nvGrpSpPr>
        <p:grpSpPr>
          <a:xfrm rot="0">
            <a:off x="16684564" y="8712272"/>
            <a:ext cx="1092056" cy="1092056"/>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13" id="13"/>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30D33">
                <a:alpha val="100000"/>
              </a:srgbClr>
            </a:gs>
            <a:gs pos="100000">
              <a:srgbClr val="003537">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650744" cy="515862"/>
          </a:xfrm>
          <a:custGeom>
            <a:avLst/>
            <a:gdLst/>
            <a:ahLst/>
            <a:cxnLst/>
            <a:rect r="r" b="b" t="t" l="l"/>
            <a:pathLst>
              <a:path h="515862" w="650744">
                <a:moveTo>
                  <a:pt x="0" y="0"/>
                </a:moveTo>
                <a:lnTo>
                  <a:pt x="650744" y="0"/>
                </a:lnTo>
                <a:lnTo>
                  <a:pt x="650744" y="515862"/>
                </a:lnTo>
                <a:lnTo>
                  <a:pt x="0" y="5158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058665" y="1296156"/>
            <a:ext cx="10170671" cy="838200"/>
          </a:xfrm>
          <a:prstGeom prst="rect">
            <a:avLst/>
          </a:prstGeom>
        </p:spPr>
        <p:txBody>
          <a:bodyPr anchor="t" rtlCol="false" tIns="0" lIns="0" bIns="0" rIns="0">
            <a:spAutoFit/>
          </a:bodyPr>
          <a:lstStyle/>
          <a:p>
            <a:pPr algn="l">
              <a:lnSpc>
                <a:spcPts val="6697"/>
              </a:lnSpc>
            </a:pPr>
            <a:r>
              <a:rPr lang="en-US" sz="5580" b="true">
                <a:solidFill>
                  <a:srgbClr val="FFFFFF"/>
                </a:solidFill>
                <a:latin typeface="Montserrat Bold"/>
                <a:ea typeface="Montserrat Bold"/>
                <a:cs typeface="Montserrat Bold"/>
                <a:sym typeface="Montserrat Bold"/>
              </a:rPr>
              <a:t>Objectives of the Project</a:t>
            </a:r>
          </a:p>
        </p:txBody>
      </p:sp>
      <p:sp>
        <p:nvSpPr>
          <p:cNvPr name="TextBox 4" id="4"/>
          <p:cNvSpPr txBox="true"/>
          <p:nvPr/>
        </p:nvSpPr>
        <p:spPr>
          <a:xfrm rot="0">
            <a:off x="1354072" y="2524955"/>
            <a:ext cx="15364206" cy="4998965"/>
          </a:xfrm>
          <a:prstGeom prst="rect">
            <a:avLst/>
          </a:prstGeom>
        </p:spPr>
        <p:txBody>
          <a:bodyPr anchor="t" rtlCol="false" tIns="0" lIns="0" bIns="0" rIns="0">
            <a:spAutoFit/>
          </a:bodyPr>
          <a:lstStyle/>
          <a:p>
            <a:pPr algn="l" marL="747792" indent="-373896" lvl="1">
              <a:lnSpc>
                <a:spcPts val="6719"/>
              </a:lnSpc>
              <a:buFont typeface="Arial"/>
              <a:buChar char="•"/>
            </a:pPr>
            <a:r>
              <a:rPr lang="en-US" sz="3463">
                <a:solidFill>
                  <a:srgbClr val="FFFFFF">
                    <a:alpha val="80000"/>
                  </a:srgbClr>
                </a:solidFill>
                <a:latin typeface="Open Sans"/>
                <a:ea typeface="Open Sans"/>
                <a:cs typeface="Open Sans"/>
                <a:sym typeface="Open Sans"/>
              </a:rPr>
              <a:t>Identify year-wise and month-wise loan disbursement patterns</a:t>
            </a:r>
          </a:p>
          <a:p>
            <a:pPr algn="l" marL="747792" indent="-373896" lvl="1">
              <a:lnSpc>
                <a:spcPts val="6719"/>
              </a:lnSpc>
              <a:buFont typeface="Arial"/>
              <a:buChar char="•"/>
            </a:pPr>
            <a:r>
              <a:rPr lang="en-US" sz="3463">
                <a:solidFill>
                  <a:srgbClr val="FFFFFF">
                    <a:alpha val="80000"/>
                  </a:srgbClr>
                </a:solidFill>
                <a:latin typeface="Open Sans"/>
                <a:ea typeface="Open Sans"/>
                <a:cs typeface="Open Sans"/>
                <a:sym typeface="Open Sans"/>
              </a:rPr>
              <a:t> Analyse impact of verification status on repayments</a:t>
            </a:r>
          </a:p>
          <a:p>
            <a:pPr algn="l" marL="747792" indent="-373896" lvl="1">
              <a:lnSpc>
                <a:spcPts val="6719"/>
              </a:lnSpc>
              <a:buFont typeface="Arial"/>
              <a:buChar char="•"/>
            </a:pPr>
            <a:r>
              <a:rPr lang="en-US" sz="3463">
                <a:solidFill>
                  <a:srgbClr val="FFFFFF">
                    <a:alpha val="80000"/>
                  </a:srgbClr>
                </a:solidFill>
                <a:latin typeface="Open Sans"/>
                <a:ea typeface="Open Sans"/>
                <a:cs typeface="Open Sans"/>
                <a:sym typeface="Open Sans"/>
              </a:rPr>
              <a:t>Understand borrower risk using grade and sub-grade segmentation</a:t>
            </a:r>
          </a:p>
          <a:p>
            <a:pPr algn="l" marL="747792" indent="-373896" lvl="1">
              <a:lnSpc>
                <a:spcPts val="6719"/>
              </a:lnSpc>
              <a:buFont typeface="Arial"/>
              <a:buChar char="•"/>
            </a:pPr>
            <a:r>
              <a:rPr lang="en-US" sz="3463">
                <a:solidFill>
                  <a:srgbClr val="FFFFFF">
                    <a:alpha val="80000"/>
                  </a:srgbClr>
                </a:solidFill>
                <a:latin typeface="Open Sans"/>
                <a:ea typeface="Open Sans"/>
                <a:cs typeface="Open Sans"/>
                <a:sym typeface="Open Sans"/>
              </a:rPr>
              <a:t>Examine effect of home ownership on repayment duration</a:t>
            </a:r>
          </a:p>
          <a:p>
            <a:pPr algn="l" marL="747792" indent="-373896" lvl="1">
              <a:lnSpc>
                <a:spcPts val="6719"/>
              </a:lnSpc>
              <a:buFont typeface="Arial"/>
              <a:buChar char="•"/>
            </a:pPr>
            <a:r>
              <a:rPr lang="en-US" sz="3463">
                <a:solidFill>
                  <a:srgbClr val="FFFFFF">
                    <a:alpha val="80000"/>
                  </a:srgbClr>
                </a:solidFill>
                <a:latin typeface="Open Sans"/>
                <a:ea typeface="Open Sans"/>
                <a:cs typeface="Open Sans"/>
                <a:sym typeface="Open Sans"/>
              </a:rPr>
              <a:t>Compare loan status across states to study geographic performance</a:t>
            </a:r>
          </a:p>
          <a:p>
            <a:pPr algn="l">
              <a:lnSpc>
                <a:spcPts val="6719"/>
              </a:lnSpc>
            </a:pPr>
          </a:p>
        </p:txBody>
      </p:sp>
      <p:grpSp>
        <p:nvGrpSpPr>
          <p:cNvPr name="Group 5" id="5"/>
          <p:cNvGrpSpPr/>
          <p:nvPr/>
        </p:nvGrpSpPr>
        <p:grpSpPr>
          <a:xfrm rot="0">
            <a:off x="9961431" y="8092090"/>
            <a:ext cx="283334" cy="283334"/>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7" id="7"/>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grpSp>
        <p:nvGrpSpPr>
          <p:cNvPr name="Group 8" id="8"/>
          <p:cNvGrpSpPr/>
          <p:nvPr/>
        </p:nvGrpSpPr>
        <p:grpSpPr>
          <a:xfrm rot="0">
            <a:off x="-291680" y="9301438"/>
            <a:ext cx="1971124" cy="197112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10" id="10"/>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spTree>
  </p:cSld>
  <p:clrMapOvr>
    <a:masterClrMapping/>
  </p:clrMapOvr>
</p:sld>
</file>

<file path=ppt/slides/slide4.xml><?xml version="1.0" encoding="utf-8"?>
<p:sld xmlns:p="http://schemas.openxmlformats.org/presentationml/2006/main" xmlns:a="http://schemas.openxmlformats.org/drawingml/2006/main">
  <p:cSld>
    <p:bg>
      <p:bgPr>
        <a:gradFill rotWithShape="true">
          <a:gsLst>
            <a:gs pos="0">
              <a:srgbClr val="030D33">
                <a:alpha val="100000"/>
              </a:srgbClr>
            </a:gs>
            <a:gs pos="100000">
              <a:srgbClr val="003537">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354072" y="4151438"/>
            <a:ext cx="6143254" cy="4242565"/>
            <a:chOff x="0" y="0"/>
            <a:chExt cx="1617976" cy="1117383"/>
          </a:xfrm>
        </p:grpSpPr>
        <p:sp>
          <p:nvSpPr>
            <p:cNvPr name="Freeform 3" id="3"/>
            <p:cNvSpPr/>
            <p:nvPr/>
          </p:nvSpPr>
          <p:spPr>
            <a:xfrm flipH="false" flipV="false" rot="0">
              <a:off x="0" y="0"/>
              <a:ext cx="1617976" cy="1117383"/>
            </a:xfrm>
            <a:custGeom>
              <a:avLst/>
              <a:gdLst/>
              <a:ahLst/>
              <a:cxnLst/>
              <a:rect r="r" b="b" t="t" l="l"/>
              <a:pathLst>
                <a:path h="1117383" w="1617976">
                  <a:moveTo>
                    <a:pt x="25205" y="0"/>
                  </a:moveTo>
                  <a:lnTo>
                    <a:pt x="1592772" y="0"/>
                  </a:lnTo>
                  <a:cubicBezTo>
                    <a:pt x="1606692" y="0"/>
                    <a:pt x="1617976" y="11284"/>
                    <a:pt x="1617976" y="25205"/>
                  </a:cubicBezTo>
                  <a:lnTo>
                    <a:pt x="1617976" y="1092179"/>
                  </a:lnTo>
                  <a:cubicBezTo>
                    <a:pt x="1617976" y="1106099"/>
                    <a:pt x="1606692" y="1117383"/>
                    <a:pt x="1592772" y="1117383"/>
                  </a:cubicBezTo>
                  <a:lnTo>
                    <a:pt x="25205" y="1117383"/>
                  </a:lnTo>
                  <a:cubicBezTo>
                    <a:pt x="11284" y="1117383"/>
                    <a:pt x="0" y="1106099"/>
                    <a:pt x="0" y="1092179"/>
                  </a:cubicBezTo>
                  <a:lnTo>
                    <a:pt x="0" y="25205"/>
                  </a:lnTo>
                  <a:cubicBezTo>
                    <a:pt x="0" y="11284"/>
                    <a:pt x="11284" y="0"/>
                    <a:pt x="25205" y="0"/>
                  </a:cubicBezTo>
                  <a:close/>
                </a:path>
              </a:pathLst>
            </a:custGeom>
            <a:gradFill rotWithShape="true">
              <a:gsLst>
                <a:gs pos="0">
                  <a:srgbClr val="4EA46A">
                    <a:alpha val="100000"/>
                  </a:srgbClr>
                </a:gs>
                <a:gs pos="100000">
                  <a:srgbClr val="005C57">
                    <a:alpha val="100000"/>
                  </a:srgbClr>
                </a:gs>
              </a:gsLst>
              <a:lin ang="0"/>
            </a:gradFill>
          </p:spPr>
        </p:sp>
        <p:sp>
          <p:nvSpPr>
            <p:cNvPr name="TextBox 4" id="4"/>
            <p:cNvSpPr txBox="true"/>
            <p:nvPr/>
          </p:nvSpPr>
          <p:spPr>
            <a:xfrm>
              <a:off x="0" y="-28575"/>
              <a:ext cx="1617976" cy="1145958"/>
            </a:xfrm>
            <a:prstGeom prst="rect">
              <a:avLst/>
            </a:prstGeom>
          </p:spPr>
          <p:txBody>
            <a:bodyPr anchor="ctr" rtlCol="false" tIns="50800" lIns="50800" bIns="50800" rIns="50800"/>
            <a:lstStyle/>
            <a:p>
              <a:pPr algn="ctr">
                <a:lnSpc>
                  <a:spcPts val="2799"/>
                </a:lnSpc>
              </a:pPr>
            </a:p>
          </p:txBody>
        </p:sp>
      </p:grpSp>
      <p:sp>
        <p:nvSpPr>
          <p:cNvPr name="TextBox 5" id="5"/>
          <p:cNvSpPr txBox="true"/>
          <p:nvPr/>
        </p:nvSpPr>
        <p:spPr>
          <a:xfrm rot="0">
            <a:off x="2843947" y="2408198"/>
            <a:ext cx="12600106" cy="1057275"/>
          </a:xfrm>
          <a:prstGeom prst="rect">
            <a:avLst/>
          </a:prstGeom>
        </p:spPr>
        <p:txBody>
          <a:bodyPr anchor="t" rtlCol="false" tIns="0" lIns="0" bIns="0" rIns="0">
            <a:spAutoFit/>
          </a:bodyPr>
          <a:lstStyle/>
          <a:p>
            <a:pPr algn="ctr">
              <a:lnSpc>
                <a:spcPts val="8377"/>
              </a:lnSpc>
            </a:pPr>
            <a:r>
              <a:rPr lang="en-US" sz="6980" b="true">
                <a:solidFill>
                  <a:srgbClr val="FFFFFF"/>
                </a:solidFill>
                <a:latin typeface="Montserrat Bold"/>
                <a:ea typeface="Montserrat Bold"/>
                <a:cs typeface="Montserrat Bold"/>
                <a:sym typeface="Montserrat Bold"/>
              </a:rPr>
              <a:t>Dataset &amp; Data Cleaning</a:t>
            </a:r>
          </a:p>
        </p:txBody>
      </p:sp>
      <p:grpSp>
        <p:nvGrpSpPr>
          <p:cNvPr name="Group 6" id="6"/>
          <p:cNvGrpSpPr/>
          <p:nvPr/>
        </p:nvGrpSpPr>
        <p:grpSpPr>
          <a:xfrm rot="0">
            <a:off x="9543137" y="4151438"/>
            <a:ext cx="8195490" cy="4242565"/>
            <a:chOff x="0" y="0"/>
            <a:chExt cx="2158483" cy="1117383"/>
          </a:xfrm>
        </p:grpSpPr>
        <p:sp>
          <p:nvSpPr>
            <p:cNvPr name="Freeform 7" id="7"/>
            <p:cNvSpPr/>
            <p:nvPr/>
          </p:nvSpPr>
          <p:spPr>
            <a:xfrm flipH="false" flipV="false" rot="0">
              <a:off x="0" y="0"/>
              <a:ext cx="2158483" cy="1117383"/>
            </a:xfrm>
            <a:custGeom>
              <a:avLst/>
              <a:gdLst/>
              <a:ahLst/>
              <a:cxnLst/>
              <a:rect r="r" b="b" t="t" l="l"/>
              <a:pathLst>
                <a:path h="1117383" w="2158483">
                  <a:moveTo>
                    <a:pt x="18893" y="0"/>
                  </a:moveTo>
                  <a:lnTo>
                    <a:pt x="2139590" y="0"/>
                  </a:lnTo>
                  <a:cubicBezTo>
                    <a:pt x="2150024" y="0"/>
                    <a:pt x="2158483" y="8459"/>
                    <a:pt x="2158483" y="18893"/>
                  </a:cubicBezTo>
                  <a:lnTo>
                    <a:pt x="2158483" y="1098490"/>
                  </a:lnTo>
                  <a:cubicBezTo>
                    <a:pt x="2158483" y="1108925"/>
                    <a:pt x="2150024" y="1117383"/>
                    <a:pt x="2139590" y="1117383"/>
                  </a:cubicBezTo>
                  <a:lnTo>
                    <a:pt x="18893" y="1117383"/>
                  </a:lnTo>
                  <a:cubicBezTo>
                    <a:pt x="13882" y="1117383"/>
                    <a:pt x="9077" y="1115393"/>
                    <a:pt x="5534" y="1111850"/>
                  </a:cubicBezTo>
                  <a:cubicBezTo>
                    <a:pt x="1991" y="1108307"/>
                    <a:pt x="0" y="1103501"/>
                    <a:pt x="0" y="1098490"/>
                  </a:cubicBezTo>
                  <a:lnTo>
                    <a:pt x="0" y="18893"/>
                  </a:lnTo>
                  <a:cubicBezTo>
                    <a:pt x="0" y="8459"/>
                    <a:pt x="8459" y="0"/>
                    <a:pt x="18893" y="0"/>
                  </a:cubicBezTo>
                  <a:close/>
                </a:path>
              </a:pathLst>
            </a:custGeom>
            <a:gradFill rotWithShape="true">
              <a:gsLst>
                <a:gs pos="0">
                  <a:srgbClr val="4EA46A">
                    <a:alpha val="100000"/>
                  </a:srgbClr>
                </a:gs>
                <a:gs pos="100000">
                  <a:srgbClr val="005C57">
                    <a:alpha val="100000"/>
                  </a:srgbClr>
                </a:gs>
              </a:gsLst>
              <a:lin ang="0"/>
            </a:gradFill>
          </p:spPr>
        </p:sp>
        <p:sp>
          <p:nvSpPr>
            <p:cNvPr name="TextBox 8" id="8"/>
            <p:cNvSpPr txBox="true"/>
            <p:nvPr/>
          </p:nvSpPr>
          <p:spPr>
            <a:xfrm>
              <a:off x="0" y="-28575"/>
              <a:ext cx="2158483" cy="1145958"/>
            </a:xfrm>
            <a:prstGeom prst="rect">
              <a:avLst/>
            </a:prstGeom>
          </p:spPr>
          <p:txBody>
            <a:bodyPr anchor="ctr" rtlCol="false" tIns="50800" lIns="50800" bIns="50800" rIns="50800"/>
            <a:lstStyle/>
            <a:p>
              <a:pPr algn="ctr">
                <a:lnSpc>
                  <a:spcPts val="2799"/>
                </a:lnSpc>
              </a:pPr>
            </a:p>
          </p:txBody>
        </p:sp>
      </p:grpSp>
      <p:sp>
        <p:nvSpPr>
          <p:cNvPr name="TextBox 9" id="9"/>
          <p:cNvSpPr txBox="true"/>
          <p:nvPr/>
        </p:nvSpPr>
        <p:spPr>
          <a:xfrm rot="0">
            <a:off x="2371133" y="4389398"/>
            <a:ext cx="3427091" cy="389255"/>
          </a:xfrm>
          <a:prstGeom prst="rect">
            <a:avLst/>
          </a:prstGeom>
        </p:spPr>
        <p:txBody>
          <a:bodyPr anchor="t" rtlCol="false" tIns="0" lIns="0" bIns="0" rIns="0">
            <a:spAutoFit/>
          </a:bodyPr>
          <a:lstStyle/>
          <a:p>
            <a:pPr algn="ctr">
              <a:lnSpc>
                <a:spcPts val="3220"/>
              </a:lnSpc>
            </a:pPr>
            <a:r>
              <a:rPr lang="en-US" b="true" sz="2300" spc="147">
                <a:solidFill>
                  <a:srgbClr val="FFFFFF"/>
                </a:solidFill>
                <a:latin typeface="Montserrat Bold"/>
                <a:ea typeface="Montserrat Bold"/>
                <a:cs typeface="Montserrat Bold"/>
                <a:sym typeface="Montserrat Bold"/>
              </a:rPr>
              <a:t>Dataset Details</a:t>
            </a:r>
          </a:p>
        </p:txBody>
      </p:sp>
      <p:sp>
        <p:nvSpPr>
          <p:cNvPr name="TextBox 10" id="10"/>
          <p:cNvSpPr txBox="true"/>
          <p:nvPr/>
        </p:nvSpPr>
        <p:spPr>
          <a:xfrm rot="0">
            <a:off x="1354072" y="5178703"/>
            <a:ext cx="6143254" cy="2120900"/>
          </a:xfrm>
          <a:prstGeom prst="rect">
            <a:avLst/>
          </a:prstGeom>
        </p:spPr>
        <p:txBody>
          <a:bodyPr anchor="t" rtlCol="false" tIns="0" lIns="0" bIns="0" rIns="0">
            <a:spAutoFit/>
          </a:bodyPr>
          <a:lstStyle/>
          <a:p>
            <a:pPr algn="l" marL="431801" indent="-215900" lvl="1">
              <a:lnSpc>
                <a:spcPts val="3400"/>
              </a:lnSpc>
              <a:buFont typeface="Arial"/>
              <a:buChar char="•"/>
            </a:pPr>
            <a:r>
              <a:rPr lang="en-US" b="true" sz="2000" spc="116">
                <a:solidFill>
                  <a:srgbClr val="FFFFFF">
                    <a:alpha val="80000"/>
                  </a:srgbClr>
                </a:solidFill>
                <a:latin typeface="Open Sans Bold"/>
                <a:ea typeface="Open Sans Bold"/>
                <a:cs typeface="Open Sans Bold"/>
                <a:sym typeface="Open Sans Bold"/>
              </a:rPr>
              <a:t>Banking &amp; Loan customer dataset</a:t>
            </a:r>
          </a:p>
          <a:p>
            <a:pPr algn="l" marL="431801" indent="-215900" lvl="1">
              <a:lnSpc>
                <a:spcPts val="3400"/>
              </a:lnSpc>
              <a:buFont typeface="Arial"/>
              <a:buChar char="•"/>
            </a:pPr>
            <a:r>
              <a:rPr lang="en-US" b="true" sz="2000" spc="116">
                <a:solidFill>
                  <a:srgbClr val="FFFFFF">
                    <a:alpha val="80000"/>
                  </a:srgbClr>
                </a:solidFill>
                <a:latin typeface="Open Sans Bold"/>
                <a:ea typeface="Open Sans Bold"/>
                <a:cs typeface="Open Sans Bold"/>
                <a:sym typeface="Open Sans Bold"/>
              </a:rPr>
              <a:t>Includes: state, loan amount, verification, interest rate, ownership, grade, payment history etc</a:t>
            </a:r>
          </a:p>
          <a:p>
            <a:pPr algn="l" marL="0" indent="0" lvl="0">
              <a:lnSpc>
                <a:spcPts val="3400"/>
              </a:lnSpc>
              <a:spcBef>
                <a:spcPct val="0"/>
              </a:spcBef>
            </a:pPr>
          </a:p>
        </p:txBody>
      </p:sp>
      <p:sp>
        <p:nvSpPr>
          <p:cNvPr name="TextBox 11" id="11"/>
          <p:cNvSpPr txBox="true"/>
          <p:nvPr/>
        </p:nvSpPr>
        <p:spPr>
          <a:xfrm rot="0">
            <a:off x="11417802" y="4389398"/>
            <a:ext cx="3795692" cy="389255"/>
          </a:xfrm>
          <a:prstGeom prst="rect">
            <a:avLst/>
          </a:prstGeom>
        </p:spPr>
        <p:txBody>
          <a:bodyPr anchor="t" rtlCol="false" tIns="0" lIns="0" bIns="0" rIns="0">
            <a:spAutoFit/>
          </a:bodyPr>
          <a:lstStyle/>
          <a:p>
            <a:pPr algn="ctr">
              <a:lnSpc>
                <a:spcPts val="3220"/>
              </a:lnSpc>
            </a:pPr>
            <a:r>
              <a:rPr lang="en-US" b="true" sz="2300" spc="147">
                <a:solidFill>
                  <a:srgbClr val="FFFFFF"/>
                </a:solidFill>
                <a:latin typeface="Montserrat Bold"/>
                <a:ea typeface="Montserrat Bold"/>
                <a:cs typeface="Montserrat Bold"/>
                <a:sym typeface="Montserrat Bold"/>
              </a:rPr>
              <a:t>Data Cleaning Steps</a:t>
            </a:r>
          </a:p>
        </p:txBody>
      </p:sp>
      <p:sp>
        <p:nvSpPr>
          <p:cNvPr name="TextBox 12" id="12"/>
          <p:cNvSpPr txBox="true"/>
          <p:nvPr/>
        </p:nvSpPr>
        <p:spPr>
          <a:xfrm rot="0">
            <a:off x="9543137" y="4939535"/>
            <a:ext cx="7141427" cy="3588496"/>
          </a:xfrm>
          <a:prstGeom prst="rect">
            <a:avLst/>
          </a:prstGeom>
        </p:spPr>
        <p:txBody>
          <a:bodyPr anchor="t" rtlCol="false" tIns="0" lIns="0" bIns="0" rIns="0">
            <a:spAutoFit/>
          </a:bodyPr>
          <a:lstStyle/>
          <a:p>
            <a:pPr algn="just" marL="364493" indent="-182247" lvl="1">
              <a:lnSpc>
                <a:spcPts val="2870"/>
              </a:lnSpc>
              <a:buFont typeface="Arial"/>
              <a:buChar char="•"/>
            </a:pPr>
            <a:r>
              <a:rPr lang="en-US" b="true" sz="1688" spc="195">
                <a:solidFill>
                  <a:srgbClr val="FFFFFF">
                    <a:alpha val="80000"/>
                  </a:srgbClr>
                </a:solidFill>
                <a:latin typeface="Open Sans Bold"/>
                <a:ea typeface="Open Sans Bold"/>
                <a:cs typeface="Open Sans Bold"/>
                <a:sym typeface="Open Sans Bold"/>
              </a:rPr>
              <a:t>Removed duplicates</a:t>
            </a:r>
          </a:p>
          <a:p>
            <a:pPr algn="just" marL="364493" indent="-182247" lvl="1">
              <a:lnSpc>
                <a:spcPts val="2870"/>
              </a:lnSpc>
              <a:buFont typeface="Arial"/>
              <a:buChar char="•"/>
            </a:pPr>
            <a:r>
              <a:rPr lang="en-US" b="true" sz="1688" spc="195">
                <a:solidFill>
                  <a:srgbClr val="FFFFFF">
                    <a:alpha val="80000"/>
                  </a:srgbClr>
                </a:solidFill>
                <a:latin typeface="Open Sans Bold"/>
                <a:ea typeface="Open Sans Bold"/>
                <a:cs typeface="Open Sans Bold"/>
                <a:sym typeface="Open Sans Bold"/>
              </a:rPr>
              <a:t>Handled null &amp; blank values</a:t>
            </a:r>
          </a:p>
          <a:p>
            <a:pPr algn="just" marL="364493" indent="-182247" lvl="1">
              <a:lnSpc>
                <a:spcPts val="2870"/>
              </a:lnSpc>
              <a:buFont typeface="Arial"/>
              <a:buChar char="•"/>
            </a:pPr>
            <a:r>
              <a:rPr lang="en-US" b="true" sz="1688" spc="195">
                <a:solidFill>
                  <a:srgbClr val="FFFFFF">
                    <a:alpha val="80000"/>
                  </a:srgbClr>
                </a:solidFill>
                <a:latin typeface="Open Sans Bold"/>
                <a:ea typeface="Open Sans Bold"/>
                <a:cs typeface="Open Sans Bold"/>
                <a:sym typeface="Open Sans Bold"/>
              </a:rPr>
              <a:t>Fixed inconsistent date formats (converted to Year–Month)</a:t>
            </a:r>
          </a:p>
          <a:p>
            <a:pPr algn="just" marL="364493" indent="-182247" lvl="1">
              <a:lnSpc>
                <a:spcPts val="2870"/>
              </a:lnSpc>
              <a:buFont typeface="Arial"/>
              <a:buChar char="•"/>
            </a:pPr>
            <a:r>
              <a:rPr lang="en-US" b="true" sz="1688" spc="195">
                <a:solidFill>
                  <a:srgbClr val="FFFFFF">
                    <a:alpha val="80000"/>
                  </a:srgbClr>
                </a:solidFill>
                <a:latin typeface="Open Sans Bold"/>
                <a:ea typeface="Open Sans Bold"/>
                <a:cs typeface="Open Sans Bold"/>
                <a:sym typeface="Open Sans Bold"/>
              </a:rPr>
              <a:t>Standardised grade, sub-grade &amp; home ownership</a:t>
            </a:r>
          </a:p>
          <a:p>
            <a:pPr algn="just" marL="364493" indent="-182247" lvl="1">
              <a:lnSpc>
                <a:spcPts val="2870"/>
              </a:lnSpc>
              <a:buFont typeface="Arial"/>
              <a:buChar char="•"/>
            </a:pPr>
            <a:r>
              <a:rPr lang="en-US" b="true" sz="1688" spc="195">
                <a:solidFill>
                  <a:srgbClr val="FFFFFF">
                    <a:alpha val="80000"/>
                  </a:srgbClr>
                </a:solidFill>
                <a:latin typeface="Open Sans Bold"/>
                <a:ea typeface="Open Sans Bold"/>
                <a:cs typeface="Open Sans Bold"/>
                <a:sym typeface="Open Sans Bold"/>
              </a:rPr>
              <a:t>Created derived fields:</a:t>
            </a:r>
          </a:p>
          <a:p>
            <a:pPr algn="just" marL="364493" indent="-182247" lvl="1">
              <a:lnSpc>
                <a:spcPts val="2870"/>
              </a:lnSpc>
              <a:buFont typeface="Arial"/>
              <a:buChar char="•"/>
            </a:pPr>
            <a:r>
              <a:rPr lang="en-US" b="true" sz="1688" spc="195">
                <a:solidFill>
                  <a:srgbClr val="FFFFFF">
                    <a:alpha val="80000"/>
                  </a:srgbClr>
                </a:solidFill>
                <a:latin typeface="Open Sans Bold"/>
                <a:ea typeface="Open Sans Bold"/>
                <a:cs typeface="Open Sans Bold"/>
                <a:sym typeface="Open Sans Bold"/>
              </a:rPr>
              <a:t>repayment duration</a:t>
            </a:r>
          </a:p>
          <a:p>
            <a:pPr algn="just" marL="364493" indent="-182247" lvl="1">
              <a:lnSpc>
                <a:spcPts val="2870"/>
              </a:lnSpc>
              <a:buFont typeface="Arial"/>
              <a:buChar char="•"/>
            </a:pPr>
            <a:r>
              <a:rPr lang="en-US" b="true" sz="1688" spc="195">
                <a:solidFill>
                  <a:srgbClr val="FFFFFF">
                    <a:alpha val="80000"/>
                  </a:srgbClr>
                </a:solidFill>
                <a:latin typeface="Open Sans Bold"/>
                <a:ea typeface="Open Sans Bold"/>
                <a:cs typeface="Open Sans Bold"/>
                <a:sym typeface="Open Sans Bold"/>
              </a:rPr>
              <a:t>revolving balance</a:t>
            </a:r>
          </a:p>
          <a:p>
            <a:pPr algn="just" marL="364493" indent="-182247" lvl="1">
              <a:lnSpc>
                <a:spcPts val="2870"/>
              </a:lnSpc>
              <a:buFont typeface="Arial"/>
              <a:buChar char="•"/>
            </a:pPr>
            <a:r>
              <a:rPr lang="en-US" b="true" sz="1688" spc="195">
                <a:solidFill>
                  <a:srgbClr val="FFFFFF">
                    <a:alpha val="80000"/>
                  </a:srgbClr>
                </a:solidFill>
                <a:latin typeface="Open Sans Bold"/>
                <a:ea typeface="Open Sans Bold"/>
                <a:cs typeface="Open Sans Bold"/>
                <a:sym typeface="Open Sans Bold"/>
              </a:rPr>
              <a:t>payment difference etc</a:t>
            </a:r>
          </a:p>
          <a:p>
            <a:pPr algn="just" marL="0" indent="0" lvl="0">
              <a:lnSpc>
                <a:spcPts val="2870"/>
              </a:lnSpc>
              <a:spcBef>
                <a:spcPct val="0"/>
              </a:spcBef>
            </a:pPr>
          </a:p>
        </p:txBody>
      </p:sp>
      <p:grpSp>
        <p:nvGrpSpPr>
          <p:cNvPr name="Group 13" id="13"/>
          <p:cNvGrpSpPr/>
          <p:nvPr/>
        </p:nvGrpSpPr>
        <p:grpSpPr>
          <a:xfrm rot="0">
            <a:off x="1761163" y="3688691"/>
            <a:ext cx="243672" cy="243672"/>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15" id="15"/>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grpSp>
        <p:nvGrpSpPr>
          <p:cNvPr name="Group 16" id="16"/>
          <p:cNvGrpSpPr/>
          <p:nvPr/>
        </p:nvGrpSpPr>
        <p:grpSpPr>
          <a:xfrm rot="0">
            <a:off x="15874981" y="3688691"/>
            <a:ext cx="243672" cy="243672"/>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18" id="18"/>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grpSp>
        <p:nvGrpSpPr>
          <p:cNvPr name="Group 19" id="19"/>
          <p:cNvGrpSpPr/>
          <p:nvPr/>
        </p:nvGrpSpPr>
        <p:grpSpPr>
          <a:xfrm rot="0">
            <a:off x="2004835" y="3354631"/>
            <a:ext cx="408184" cy="408184"/>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21" id="21"/>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grpSp>
        <p:nvGrpSpPr>
          <p:cNvPr name="Group 22" id="22"/>
          <p:cNvGrpSpPr/>
          <p:nvPr/>
        </p:nvGrpSpPr>
        <p:grpSpPr>
          <a:xfrm rot="0">
            <a:off x="15466798" y="3354631"/>
            <a:ext cx="408184" cy="408184"/>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24" id="24"/>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grpSp>
        <p:nvGrpSpPr>
          <p:cNvPr name="Group 25" id="25"/>
          <p:cNvGrpSpPr/>
          <p:nvPr/>
        </p:nvGrpSpPr>
        <p:grpSpPr>
          <a:xfrm rot="0">
            <a:off x="17738627" y="8934113"/>
            <a:ext cx="1971124" cy="1971124"/>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27" id="27"/>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30D33">
                <a:alpha val="100000"/>
              </a:srgbClr>
            </a:gs>
            <a:gs pos="100000">
              <a:srgbClr val="003537">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650744" cy="515862"/>
          </a:xfrm>
          <a:custGeom>
            <a:avLst/>
            <a:gdLst/>
            <a:ahLst/>
            <a:cxnLst/>
            <a:rect r="r" b="b" t="t" l="l"/>
            <a:pathLst>
              <a:path h="515862" w="650744">
                <a:moveTo>
                  <a:pt x="0" y="0"/>
                </a:moveTo>
                <a:lnTo>
                  <a:pt x="650744" y="0"/>
                </a:lnTo>
                <a:lnTo>
                  <a:pt x="650744" y="515862"/>
                </a:lnTo>
                <a:lnTo>
                  <a:pt x="0" y="5158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8154900" y="1659900"/>
            <a:ext cx="223236" cy="223236"/>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5" id="5"/>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grpSp>
        <p:nvGrpSpPr>
          <p:cNvPr name="Group 6" id="6"/>
          <p:cNvGrpSpPr/>
          <p:nvPr/>
        </p:nvGrpSpPr>
        <p:grpSpPr>
          <a:xfrm rot="0">
            <a:off x="16914144" y="4949440"/>
            <a:ext cx="345156" cy="345156"/>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8" id="8"/>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grpSp>
        <p:nvGrpSpPr>
          <p:cNvPr name="Group 9" id="9"/>
          <p:cNvGrpSpPr/>
          <p:nvPr/>
        </p:nvGrpSpPr>
        <p:grpSpPr>
          <a:xfrm rot="0">
            <a:off x="16684564" y="9301438"/>
            <a:ext cx="1971124" cy="1971124"/>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11" id="11"/>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sp>
        <p:nvSpPr>
          <p:cNvPr name="Freeform 12" id="12"/>
          <p:cNvSpPr/>
          <p:nvPr/>
        </p:nvSpPr>
        <p:spPr>
          <a:xfrm flipH="false" flipV="false" rot="0">
            <a:off x="2440652" y="1771518"/>
            <a:ext cx="13096535" cy="7865974"/>
          </a:xfrm>
          <a:custGeom>
            <a:avLst/>
            <a:gdLst/>
            <a:ahLst/>
            <a:cxnLst/>
            <a:rect r="r" b="b" t="t" l="l"/>
            <a:pathLst>
              <a:path h="7865974" w="13096535">
                <a:moveTo>
                  <a:pt x="0" y="0"/>
                </a:moveTo>
                <a:lnTo>
                  <a:pt x="13096535" y="0"/>
                </a:lnTo>
                <a:lnTo>
                  <a:pt x="13096535" y="7865974"/>
                </a:lnTo>
                <a:lnTo>
                  <a:pt x="0" y="7865974"/>
                </a:lnTo>
                <a:lnTo>
                  <a:pt x="0" y="0"/>
                </a:lnTo>
                <a:close/>
              </a:path>
            </a:pathLst>
          </a:custGeom>
          <a:blipFill>
            <a:blip r:embed="rId4"/>
            <a:stretch>
              <a:fillRect l="0" t="-1082" r="0" b="-1082"/>
            </a:stretch>
          </a:blipFill>
        </p:spPr>
      </p:sp>
      <p:sp>
        <p:nvSpPr>
          <p:cNvPr name="TextBox 13" id="13"/>
          <p:cNvSpPr txBox="true"/>
          <p:nvPr/>
        </p:nvSpPr>
        <p:spPr>
          <a:xfrm rot="0">
            <a:off x="4025684" y="1059825"/>
            <a:ext cx="11006693" cy="600075"/>
          </a:xfrm>
          <a:prstGeom prst="rect">
            <a:avLst/>
          </a:prstGeom>
        </p:spPr>
        <p:txBody>
          <a:bodyPr anchor="t" rtlCol="false" tIns="0" lIns="0" bIns="0" rIns="0">
            <a:spAutoFit/>
          </a:bodyPr>
          <a:lstStyle/>
          <a:p>
            <a:pPr algn="l">
              <a:lnSpc>
                <a:spcPts val="4777"/>
              </a:lnSpc>
            </a:pPr>
            <a:r>
              <a:rPr lang="en-US" sz="3980" b="true">
                <a:solidFill>
                  <a:srgbClr val="FFFFFF"/>
                </a:solidFill>
                <a:latin typeface="Montserrat Bold"/>
                <a:ea typeface="Montserrat Bold"/>
                <a:cs typeface="Montserrat Bold"/>
                <a:sym typeface="Montserrat Bold"/>
              </a:rPr>
              <a:t>Loan Analysis Dashboard (Power BI)</a:t>
            </a:r>
          </a:p>
        </p:txBody>
      </p:sp>
      <p:sp>
        <p:nvSpPr>
          <p:cNvPr name="TextBox 14" id="14"/>
          <p:cNvSpPr txBox="true"/>
          <p:nvPr/>
        </p:nvSpPr>
        <p:spPr>
          <a:xfrm rot="0">
            <a:off x="2945462" y="232420"/>
            <a:ext cx="12086915" cy="389255"/>
          </a:xfrm>
          <a:prstGeom prst="rect">
            <a:avLst/>
          </a:prstGeom>
        </p:spPr>
        <p:txBody>
          <a:bodyPr anchor="t" rtlCol="false" tIns="0" lIns="0" bIns="0" rIns="0">
            <a:spAutoFit/>
          </a:bodyPr>
          <a:lstStyle/>
          <a:p>
            <a:pPr algn="l">
              <a:lnSpc>
                <a:spcPts val="3220"/>
              </a:lnSpc>
            </a:pPr>
            <a:r>
              <a:rPr lang="en-US" b="true" sz="2300" spc="147">
                <a:solidFill>
                  <a:srgbClr val="33C6A8"/>
                </a:solidFill>
                <a:latin typeface="Montserrat Bold"/>
                <a:ea typeface="Montserrat Bold"/>
                <a:cs typeface="Montserrat Bold"/>
                <a:sym typeface="Montserrat Bold"/>
              </a:rPr>
              <a:t>Interactive visuals using DAX, filters, drill-through and financial KPIs.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30D33">
                <a:alpha val="100000"/>
              </a:srgbClr>
            </a:gs>
            <a:gs pos="100000">
              <a:srgbClr val="003537">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8920764" y="1736979"/>
            <a:ext cx="223236" cy="22323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4" id="4"/>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grpSp>
        <p:nvGrpSpPr>
          <p:cNvPr name="Group 5" id="5"/>
          <p:cNvGrpSpPr/>
          <p:nvPr/>
        </p:nvGrpSpPr>
        <p:grpSpPr>
          <a:xfrm rot="0">
            <a:off x="856122" y="7826176"/>
            <a:ext cx="345156" cy="34515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7" id="7"/>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grpSp>
        <p:nvGrpSpPr>
          <p:cNvPr name="Group 8" id="8"/>
          <p:cNvGrpSpPr/>
          <p:nvPr/>
        </p:nvGrpSpPr>
        <p:grpSpPr>
          <a:xfrm rot="0">
            <a:off x="16684564" y="9301438"/>
            <a:ext cx="1971124" cy="197112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10" id="10"/>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sp>
        <p:nvSpPr>
          <p:cNvPr name="Freeform 11" id="11"/>
          <p:cNvSpPr/>
          <p:nvPr/>
        </p:nvSpPr>
        <p:spPr>
          <a:xfrm flipH="false" flipV="false" rot="0">
            <a:off x="1679444" y="1733116"/>
            <a:ext cx="14229625" cy="7525184"/>
          </a:xfrm>
          <a:custGeom>
            <a:avLst/>
            <a:gdLst/>
            <a:ahLst/>
            <a:cxnLst/>
            <a:rect r="r" b="b" t="t" l="l"/>
            <a:pathLst>
              <a:path h="7525184" w="14229625">
                <a:moveTo>
                  <a:pt x="0" y="0"/>
                </a:moveTo>
                <a:lnTo>
                  <a:pt x="14229625" y="0"/>
                </a:lnTo>
                <a:lnTo>
                  <a:pt x="14229625" y="7525184"/>
                </a:lnTo>
                <a:lnTo>
                  <a:pt x="0" y="7525184"/>
                </a:lnTo>
                <a:lnTo>
                  <a:pt x="0" y="0"/>
                </a:lnTo>
                <a:close/>
              </a:path>
            </a:pathLst>
          </a:custGeom>
          <a:blipFill>
            <a:blip r:embed="rId2"/>
            <a:stretch>
              <a:fillRect l="0" t="-582" r="0" b="-582"/>
            </a:stretch>
          </a:blipFill>
        </p:spPr>
      </p:sp>
      <p:sp>
        <p:nvSpPr>
          <p:cNvPr name="TextBox 12" id="12"/>
          <p:cNvSpPr txBox="true"/>
          <p:nvPr/>
        </p:nvSpPr>
        <p:spPr>
          <a:xfrm rot="0">
            <a:off x="1867904" y="1134987"/>
            <a:ext cx="14552193" cy="409575"/>
          </a:xfrm>
          <a:prstGeom prst="rect">
            <a:avLst/>
          </a:prstGeom>
        </p:spPr>
        <p:txBody>
          <a:bodyPr anchor="t" rtlCol="false" tIns="0" lIns="0" bIns="0" rIns="0">
            <a:spAutoFit/>
          </a:bodyPr>
          <a:lstStyle/>
          <a:p>
            <a:pPr algn="l" marL="0" indent="0" lvl="0">
              <a:lnSpc>
                <a:spcPts val="3569"/>
              </a:lnSpc>
              <a:spcBef>
                <a:spcPct val="0"/>
              </a:spcBef>
            </a:pPr>
            <a:r>
              <a:rPr lang="en-US" b="true" sz="2100" spc="67">
                <a:solidFill>
                  <a:srgbClr val="FFFFFF">
                    <a:alpha val="80000"/>
                  </a:srgbClr>
                </a:solidFill>
                <a:latin typeface="B612 Bold"/>
                <a:ea typeface="B612 Bold"/>
                <a:cs typeface="B612 Bold"/>
                <a:sym typeface="B612 Bold"/>
              </a:rPr>
              <a:t>Story-driven visualization focusing on loan trends, grade breakdown &amp; state-wise performance.</a:t>
            </a:r>
          </a:p>
        </p:txBody>
      </p:sp>
      <p:sp>
        <p:nvSpPr>
          <p:cNvPr name="TextBox 13" id="13"/>
          <p:cNvSpPr txBox="true"/>
          <p:nvPr/>
        </p:nvSpPr>
        <p:spPr>
          <a:xfrm rot="0">
            <a:off x="5512348" y="175614"/>
            <a:ext cx="7263304" cy="584201"/>
          </a:xfrm>
          <a:prstGeom prst="rect">
            <a:avLst/>
          </a:prstGeom>
        </p:spPr>
        <p:txBody>
          <a:bodyPr anchor="t" rtlCol="false" tIns="0" lIns="0" bIns="0" rIns="0">
            <a:spAutoFit/>
          </a:bodyPr>
          <a:lstStyle/>
          <a:p>
            <a:pPr algn="l">
              <a:lnSpc>
                <a:spcPts val="4759"/>
              </a:lnSpc>
            </a:pPr>
            <a:r>
              <a:rPr lang="en-US" b="true" sz="2799" spc="181">
                <a:solidFill>
                  <a:srgbClr val="B2D5B1"/>
                </a:solidFill>
                <a:latin typeface="Poppins Bold"/>
                <a:ea typeface="Poppins Bold"/>
                <a:cs typeface="Poppins Bold"/>
                <a:sym typeface="Poppins Bold"/>
              </a:rPr>
              <a:t>Loan Insights Dashboard (Tableau)</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30D33">
                <a:alpha val="100000"/>
              </a:srgbClr>
            </a:gs>
            <a:gs pos="100000">
              <a:srgbClr val="003537">
                <a:alpha val="100000"/>
              </a:srgbClr>
            </a:gs>
          </a:gsLst>
          <a:lin ang="0"/>
        </a:gradFill>
      </p:bgPr>
    </p:bg>
    <p:spTree>
      <p:nvGrpSpPr>
        <p:cNvPr id="1" name=""/>
        <p:cNvGrpSpPr/>
        <p:nvPr/>
      </p:nvGrpSpPr>
      <p:grpSpPr>
        <a:xfrm>
          <a:off x="0" y="0"/>
          <a:ext cx="0" cy="0"/>
          <a:chOff x="0" y="0"/>
          <a:chExt cx="0" cy="0"/>
        </a:xfrm>
      </p:grpSpPr>
      <p:sp>
        <p:nvSpPr>
          <p:cNvPr name="TextBox 2" id="2"/>
          <p:cNvSpPr txBox="true"/>
          <p:nvPr/>
        </p:nvSpPr>
        <p:spPr>
          <a:xfrm rot="0">
            <a:off x="569556" y="1666743"/>
            <a:ext cx="8871816" cy="466725"/>
          </a:xfrm>
          <a:prstGeom prst="rect">
            <a:avLst/>
          </a:prstGeom>
        </p:spPr>
        <p:txBody>
          <a:bodyPr anchor="t" rtlCol="false" tIns="0" lIns="0" bIns="0" rIns="0">
            <a:spAutoFit/>
          </a:bodyPr>
          <a:lstStyle/>
          <a:p>
            <a:pPr algn="l" marL="0" indent="0" lvl="0">
              <a:lnSpc>
                <a:spcPts val="4079"/>
              </a:lnSpc>
              <a:spcBef>
                <a:spcPct val="0"/>
              </a:spcBef>
            </a:pPr>
            <a:r>
              <a:rPr lang="en-US" sz="2399">
                <a:solidFill>
                  <a:srgbClr val="FFFFFF">
                    <a:alpha val="80000"/>
                  </a:srgbClr>
                </a:solidFill>
                <a:latin typeface="Open Sans"/>
                <a:ea typeface="Open Sans"/>
                <a:cs typeface="Open Sans"/>
                <a:sym typeface="Open Sans"/>
              </a:rPr>
              <a:t> 1. Total Loan Amount Issued</a:t>
            </a:r>
          </a:p>
        </p:txBody>
      </p:sp>
      <p:grpSp>
        <p:nvGrpSpPr>
          <p:cNvPr name="Group 3" id="3"/>
          <p:cNvGrpSpPr/>
          <p:nvPr/>
        </p:nvGrpSpPr>
        <p:grpSpPr>
          <a:xfrm rot="0">
            <a:off x="8946785" y="1659900"/>
            <a:ext cx="223236" cy="223236"/>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5" id="5"/>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grpSp>
        <p:nvGrpSpPr>
          <p:cNvPr name="Group 6" id="6"/>
          <p:cNvGrpSpPr/>
          <p:nvPr/>
        </p:nvGrpSpPr>
        <p:grpSpPr>
          <a:xfrm rot="0">
            <a:off x="13707826" y="7979127"/>
            <a:ext cx="345156" cy="345156"/>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8" id="8"/>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grpSp>
        <p:nvGrpSpPr>
          <p:cNvPr name="Group 9" id="9"/>
          <p:cNvGrpSpPr/>
          <p:nvPr/>
        </p:nvGrpSpPr>
        <p:grpSpPr>
          <a:xfrm rot="0">
            <a:off x="16684564" y="9301438"/>
            <a:ext cx="1971124" cy="1971124"/>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11" id="11"/>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sp>
        <p:nvSpPr>
          <p:cNvPr name="Freeform 12" id="12"/>
          <p:cNvSpPr/>
          <p:nvPr/>
        </p:nvSpPr>
        <p:spPr>
          <a:xfrm flipH="false" flipV="false" rot="0">
            <a:off x="569556" y="2350983"/>
            <a:ext cx="5049593" cy="4289276"/>
          </a:xfrm>
          <a:custGeom>
            <a:avLst/>
            <a:gdLst/>
            <a:ahLst/>
            <a:cxnLst/>
            <a:rect r="r" b="b" t="t" l="l"/>
            <a:pathLst>
              <a:path h="4289276" w="5049593">
                <a:moveTo>
                  <a:pt x="0" y="0"/>
                </a:moveTo>
                <a:lnTo>
                  <a:pt x="5049594" y="0"/>
                </a:lnTo>
                <a:lnTo>
                  <a:pt x="5049594" y="4289276"/>
                </a:lnTo>
                <a:lnTo>
                  <a:pt x="0" y="4289276"/>
                </a:lnTo>
                <a:lnTo>
                  <a:pt x="0" y="0"/>
                </a:lnTo>
                <a:close/>
              </a:path>
            </a:pathLst>
          </a:custGeom>
          <a:blipFill>
            <a:blip r:embed="rId2"/>
            <a:stretch>
              <a:fillRect l="-36371" t="-26354" r="-88545" b="0"/>
            </a:stretch>
          </a:blipFill>
        </p:spPr>
      </p:sp>
      <p:sp>
        <p:nvSpPr>
          <p:cNvPr name="Freeform 13" id="13"/>
          <p:cNvSpPr/>
          <p:nvPr/>
        </p:nvSpPr>
        <p:spPr>
          <a:xfrm flipH="false" flipV="false" rot="0">
            <a:off x="8698968" y="2626087"/>
            <a:ext cx="8817854" cy="3739069"/>
          </a:xfrm>
          <a:custGeom>
            <a:avLst/>
            <a:gdLst/>
            <a:ahLst/>
            <a:cxnLst/>
            <a:rect r="r" b="b" t="t" l="l"/>
            <a:pathLst>
              <a:path h="3739069" w="8817854">
                <a:moveTo>
                  <a:pt x="0" y="0"/>
                </a:moveTo>
                <a:lnTo>
                  <a:pt x="8817853" y="0"/>
                </a:lnTo>
                <a:lnTo>
                  <a:pt x="8817853" y="3739068"/>
                </a:lnTo>
                <a:lnTo>
                  <a:pt x="0" y="3739068"/>
                </a:lnTo>
                <a:lnTo>
                  <a:pt x="0" y="0"/>
                </a:lnTo>
                <a:close/>
              </a:path>
            </a:pathLst>
          </a:custGeom>
          <a:blipFill>
            <a:blip r:embed="rId3"/>
            <a:stretch>
              <a:fillRect l="0" t="0" r="-23336" b="-14268"/>
            </a:stretch>
          </a:blipFill>
        </p:spPr>
      </p:sp>
      <p:sp>
        <p:nvSpPr>
          <p:cNvPr name="TextBox 14" id="14"/>
          <p:cNvSpPr txBox="true"/>
          <p:nvPr/>
        </p:nvSpPr>
        <p:spPr>
          <a:xfrm rot="0">
            <a:off x="5853674" y="450225"/>
            <a:ext cx="8966577" cy="647700"/>
          </a:xfrm>
          <a:prstGeom prst="rect">
            <a:avLst/>
          </a:prstGeom>
        </p:spPr>
        <p:txBody>
          <a:bodyPr anchor="t" rtlCol="false" tIns="0" lIns="0" bIns="0" rIns="0">
            <a:spAutoFit/>
          </a:bodyPr>
          <a:lstStyle/>
          <a:p>
            <a:pPr algn="l">
              <a:lnSpc>
                <a:spcPts val="5137"/>
              </a:lnSpc>
            </a:pPr>
            <a:r>
              <a:rPr lang="en-US" sz="4280" b="true">
                <a:solidFill>
                  <a:srgbClr val="FFFFFF"/>
                </a:solidFill>
                <a:latin typeface="Montserrat Bold"/>
                <a:ea typeface="Montserrat Bold"/>
                <a:cs typeface="Montserrat Bold"/>
                <a:sym typeface="Montserrat Bold"/>
              </a:rPr>
              <a:t>MySQL Queries Used</a:t>
            </a:r>
          </a:p>
        </p:txBody>
      </p:sp>
      <p:sp>
        <p:nvSpPr>
          <p:cNvPr name="TextBox 15" id="15"/>
          <p:cNvSpPr txBox="true"/>
          <p:nvPr/>
        </p:nvSpPr>
        <p:spPr>
          <a:xfrm rot="0">
            <a:off x="10785677" y="1778362"/>
            <a:ext cx="8871816" cy="466725"/>
          </a:xfrm>
          <a:prstGeom prst="rect">
            <a:avLst/>
          </a:prstGeom>
        </p:spPr>
        <p:txBody>
          <a:bodyPr anchor="t" rtlCol="false" tIns="0" lIns="0" bIns="0" rIns="0">
            <a:spAutoFit/>
          </a:bodyPr>
          <a:lstStyle/>
          <a:p>
            <a:pPr algn="l" marL="0" indent="0" lvl="0">
              <a:lnSpc>
                <a:spcPts val="4079"/>
              </a:lnSpc>
              <a:spcBef>
                <a:spcPct val="0"/>
              </a:spcBef>
            </a:pPr>
            <a:r>
              <a:rPr lang="en-US" sz="2399">
                <a:solidFill>
                  <a:srgbClr val="FFFFFF">
                    <a:alpha val="80000"/>
                  </a:srgbClr>
                </a:solidFill>
                <a:latin typeface="Open Sans"/>
                <a:ea typeface="Open Sans"/>
                <a:cs typeface="Open Sans"/>
                <a:sym typeface="Open Sans"/>
              </a:rPr>
              <a:t>2. Total Funded Amount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30D33">
                <a:alpha val="100000"/>
              </a:srgbClr>
            </a:gs>
            <a:gs pos="100000">
              <a:srgbClr val="003537">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817096" y="2854692"/>
            <a:ext cx="223236" cy="22323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4" id="4"/>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grpSp>
        <p:nvGrpSpPr>
          <p:cNvPr name="Group 5" id="5"/>
          <p:cNvGrpSpPr/>
          <p:nvPr/>
        </p:nvGrpSpPr>
        <p:grpSpPr>
          <a:xfrm rot="0">
            <a:off x="8971422" y="7910281"/>
            <a:ext cx="345156" cy="34515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7" id="7"/>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grpSp>
        <p:nvGrpSpPr>
          <p:cNvPr name="Group 8" id="8"/>
          <p:cNvGrpSpPr/>
          <p:nvPr/>
        </p:nvGrpSpPr>
        <p:grpSpPr>
          <a:xfrm rot="0">
            <a:off x="16684564" y="9301438"/>
            <a:ext cx="1971124" cy="197112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10" id="10"/>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sp>
        <p:nvSpPr>
          <p:cNvPr name="Freeform 11" id="11"/>
          <p:cNvSpPr/>
          <p:nvPr/>
        </p:nvSpPr>
        <p:spPr>
          <a:xfrm flipH="false" flipV="false" rot="0">
            <a:off x="241714" y="836466"/>
            <a:ext cx="5196710" cy="2129844"/>
          </a:xfrm>
          <a:custGeom>
            <a:avLst/>
            <a:gdLst/>
            <a:ahLst/>
            <a:cxnLst/>
            <a:rect r="r" b="b" t="t" l="l"/>
            <a:pathLst>
              <a:path h="2129844" w="5196710">
                <a:moveTo>
                  <a:pt x="0" y="0"/>
                </a:moveTo>
                <a:lnTo>
                  <a:pt x="5196711" y="0"/>
                </a:lnTo>
                <a:lnTo>
                  <a:pt x="5196711" y="2129844"/>
                </a:lnTo>
                <a:lnTo>
                  <a:pt x="0" y="2129844"/>
                </a:lnTo>
                <a:lnTo>
                  <a:pt x="0" y="0"/>
                </a:lnTo>
                <a:close/>
              </a:path>
            </a:pathLst>
          </a:custGeom>
          <a:blipFill>
            <a:blip r:embed="rId2"/>
            <a:stretch>
              <a:fillRect l="0" t="0" r="-6687" b="-11095"/>
            </a:stretch>
          </a:blipFill>
        </p:spPr>
      </p:sp>
      <p:sp>
        <p:nvSpPr>
          <p:cNvPr name="Freeform 12" id="12"/>
          <p:cNvSpPr/>
          <p:nvPr/>
        </p:nvSpPr>
        <p:spPr>
          <a:xfrm flipH="false" flipV="false" rot="0">
            <a:off x="6538265" y="836466"/>
            <a:ext cx="4677808" cy="2786541"/>
          </a:xfrm>
          <a:custGeom>
            <a:avLst/>
            <a:gdLst/>
            <a:ahLst/>
            <a:cxnLst/>
            <a:rect r="r" b="b" t="t" l="l"/>
            <a:pathLst>
              <a:path h="2786541" w="4677808">
                <a:moveTo>
                  <a:pt x="0" y="0"/>
                </a:moveTo>
                <a:lnTo>
                  <a:pt x="4677807" y="0"/>
                </a:lnTo>
                <a:lnTo>
                  <a:pt x="4677807" y="2786541"/>
                </a:lnTo>
                <a:lnTo>
                  <a:pt x="0" y="2786541"/>
                </a:lnTo>
                <a:lnTo>
                  <a:pt x="0" y="0"/>
                </a:lnTo>
                <a:close/>
              </a:path>
            </a:pathLst>
          </a:custGeom>
          <a:blipFill>
            <a:blip r:embed="rId3"/>
            <a:stretch>
              <a:fillRect l="0" t="0" r="0" b="0"/>
            </a:stretch>
          </a:blipFill>
        </p:spPr>
      </p:sp>
      <p:sp>
        <p:nvSpPr>
          <p:cNvPr name="Freeform 13" id="13"/>
          <p:cNvSpPr/>
          <p:nvPr/>
        </p:nvSpPr>
        <p:spPr>
          <a:xfrm flipH="false" flipV="false" rot="0">
            <a:off x="13126243" y="683895"/>
            <a:ext cx="4484002" cy="3523459"/>
          </a:xfrm>
          <a:custGeom>
            <a:avLst/>
            <a:gdLst/>
            <a:ahLst/>
            <a:cxnLst/>
            <a:rect r="r" b="b" t="t" l="l"/>
            <a:pathLst>
              <a:path h="3523459" w="4484002">
                <a:moveTo>
                  <a:pt x="0" y="0"/>
                </a:moveTo>
                <a:lnTo>
                  <a:pt x="4484002" y="0"/>
                </a:lnTo>
                <a:lnTo>
                  <a:pt x="4484002" y="3523460"/>
                </a:lnTo>
                <a:lnTo>
                  <a:pt x="0" y="3523460"/>
                </a:lnTo>
                <a:lnTo>
                  <a:pt x="0" y="0"/>
                </a:lnTo>
                <a:close/>
              </a:path>
            </a:pathLst>
          </a:custGeom>
          <a:blipFill>
            <a:blip r:embed="rId4"/>
            <a:stretch>
              <a:fillRect l="-1169" t="0" r="-21020" b="-477"/>
            </a:stretch>
          </a:blipFill>
        </p:spPr>
      </p:sp>
      <p:sp>
        <p:nvSpPr>
          <p:cNvPr name="Freeform 14" id="14"/>
          <p:cNvSpPr/>
          <p:nvPr/>
        </p:nvSpPr>
        <p:spPr>
          <a:xfrm flipH="false" flipV="false" rot="0">
            <a:off x="508861" y="4727264"/>
            <a:ext cx="5089135" cy="4964141"/>
          </a:xfrm>
          <a:custGeom>
            <a:avLst/>
            <a:gdLst/>
            <a:ahLst/>
            <a:cxnLst/>
            <a:rect r="r" b="b" t="t" l="l"/>
            <a:pathLst>
              <a:path h="4964141" w="5089135">
                <a:moveTo>
                  <a:pt x="0" y="0"/>
                </a:moveTo>
                <a:lnTo>
                  <a:pt x="5089134" y="0"/>
                </a:lnTo>
                <a:lnTo>
                  <a:pt x="5089134" y="4964141"/>
                </a:lnTo>
                <a:lnTo>
                  <a:pt x="0" y="4964141"/>
                </a:lnTo>
                <a:lnTo>
                  <a:pt x="0" y="0"/>
                </a:lnTo>
                <a:close/>
              </a:path>
            </a:pathLst>
          </a:custGeom>
          <a:blipFill>
            <a:blip r:embed="rId5"/>
            <a:stretch>
              <a:fillRect l="-2127" t="0" r="0" b="0"/>
            </a:stretch>
          </a:blipFill>
        </p:spPr>
      </p:sp>
      <p:sp>
        <p:nvSpPr>
          <p:cNvPr name="Freeform 15" id="15"/>
          <p:cNvSpPr/>
          <p:nvPr/>
        </p:nvSpPr>
        <p:spPr>
          <a:xfrm flipH="false" flipV="false" rot="0">
            <a:off x="6231067" y="5585072"/>
            <a:ext cx="6171023" cy="3673228"/>
          </a:xfrm>
          <a:custGeom>
            <a:avLst/>
            <a:gdLst/>
            <a:ahLst/>
            <a:cxnLst/>
            <a:rect r="r" b="b" t="t" l="l"/>
            <a:pathLst>
              <a:path h="3673228" w="6171023">
                <a:moveTo>
                  <a:pt x="0" y="0"/>
                </a:moveTo>
                <a:lnTo>
                  <a:pt x="6171023" y="0"/>
                </a:lnTo>
                <a:lnTo>
                  <a:pt x="6171023" y="3673228"/>
                </a:lnTo>
                <a:lnTo>
                  <a:pt x="0" y="3673228"/>
                </a:lnTo>
                <a:lnTo>
                  <a:pt x="0" y="0"/>
                </a:lnTo>
                <a:close/>
              </a:path>
            </a:pathLst>
          </a:custGeom>
          <a:blipFill>
            <a:blip r:embed="rId6"/>
            <a:stretch>
              <a:fillRect l="0" t="0" r="0" b="0"/>
            </a:stretch>
          </a:blipFill>
        </p:spPr>
      </p:sp>
      <p:sp>
        <p:nvSpPr>
          <p:cNvPr name="Freeform 16" id="16"/>
          <p:cNvSpPr/>
          <p:nvPr/>
        </p:nvSpPr>
        <p:spPr>
          <a:xfrm flipH="false" flipV="false" rot="0">
            <a:off x="12752315" y="5585072"/>
            <a:ext cx="5231859" cy="2064946"/>
          </a:xfrm>
          <a:custGeom>
            <a:avLst/>
            <a:gdLst/>
            <a:ahLst/>
            <a:cxnLst/>
            <a:rect r="r" b="b" t="t" l="l"/>
            <a:pathLst>
              <a:path h="2064946" w="5231859">
                <a:moveTo>
                  <a:pt x="0" y="0"/>
                </a:moveTo>
                <a:lnTo>
                  <a:pt x="5231859" y="0"/>
                </a:lnTo>
                <a:lnTo>
                  <a:pt x="5231859" y="2064947"/>
                </a:lnTo>
                <a:lnTo>
                  <a:pt x="0" y="2064947"/>
                </a:lnTo>
                <a:lnTo>
                  <a:pt x="0" y="0"/>
                </a:lnTo>
                <a:close/>
              </a:path>
            </a:pathLst>
          </a:custGeom>
          <a:blipFill>
            <a:blip r:embed="rId7"/>
            <a:stretch>
              <a:fillRect l="0" t="0" r="0" b="0"/>
            </a:stretch>
          </a:blipFill>
        </p:spPr>
      </p:sp>
      <p:sp>
        <p:nvSpPr>
          <p:cNvPr name="TextBox 17" id="17"/>
          <p:cNvSpPr txBox="true"/>
          <p:nvPr/>
        </p:nvSpPr>
        <p:spPr>
          <a:xfrm rot="0">
            <a:off x="-600852" y="311150"/>
            <a:ext cx="5282369" cy="1544320"/>
          </a:xfrm>
          <a:prstGeom prst="rect">
            <a:avLst/>
          </a:prstGeom>
        </p:spPr>
        <p:txBody>
          <a:bodyPr anchor="t" rtlCol="false" tIns="0" lIns="0" bIns="0" rIns="0">
            <a:spAutoFit/>
          </a:bodyPr>
          <a:lstStyle/>
          <a:p>
            <a:pPr algn="ctr">
              <a:lnSpc>
                <a:spcPts val="3079"/>
              </a:lnSpc>
            </a:pPr>
            <a:r>
              <a:rPr lang="en-US" sz="2199">
                <a:solidFill>
                  <a:srgbClr val="FFFFFF"/>
                </a:solidFill>
                <a:latin typeface="Montserrat"/>
                <a:ea typeface="Montserrat"/>
                <a:cs typeface="Montserrat"/>
                <a:sym typeface="Montserrat"/>
              </a:rPr>
              <a:t>3. Average Interest Rate</a:t>
            </a:r>
          </a:p>
          <a:p>
            <a:pPr algn="ctr">
              <a:lnSpc>
                <a:spcPts val="3079"/>
              </a:lnSpc>
            </a:pPr>
          </a:p>
          <a:p>
            <a:pPr algn="ctr">
              <a:lnSpc>
                <a:spcPts val="3079"/>
              </a:lnSpc>
            </a:pPr>
          </a:p>
          <a:p>
            <a:pPr algn="ctr">
              <a:lnSpc>
                <a:spcPts val="3079"/>
              </a:lnSpc>
              <a:spcBef>
                <a:spcPct val="0"/>
              </a:spcBef>
            </a:pPr>
          </a:p>
        </p:txBody>
      </p:sp>
      <p:sp>
        <p:nvSpPr>
          <p:cNvPr name="TextBox 18" id="18"/>
          <p:cNvSpPr txBox="true"/>
          <p:nvPr/>
        </p:nvSpPr>
        <p:spPr>
          <a:xfrm rot="0">
            <a:off x="5986500" y="311150"/>
            <a:ext cx="5282369" cy="372745"/>
          </a:xfrm>
          <a:prstGeom prst="rect">
            <a:avLst/>
          </a:prstGeom>
        </p:spPr>
        <p:txBody>
          <a:bodyPr anchor="t" rtlCol="false" tIns="0" lIns="0" bIns="0" rIns="0">
            <a:spAutoFit/>
          </a:bodyPr>
          <a:lstStyle/>
          <a:p>
            <a:pPr algn="ctr">
              <a:lnSpc>
                <a:spcPts val="3079"/>
              </a:lnSpc>
              <a:spcBef>
                <a:spcPct val="0"/>
              </a:spcBef>
            </a:pPr>
            <a:r>
              <a:rPr lang="en-US" sz="2199">
                <a:solidFill>
                  <a:srgbClr val="FFFFFF"/>
                </a:solidFill>
                <a:latin typeface="Montserrat"/>
                <a:ea typeface="Montserrat"/>
                <a:cs typeface="Montserrat"/>
                <a:sym typeface="Montserrat"/>
              </a:rPr>
              <a:t>4. Average Loan Term (in months)</a:t>
            </a:r>
          </a:p>
        </p:txBody>
      </p:sp>
      <p:sp>
        <p:nvSpPr>
          <p:cNvPr name="TextBox 19" id="19"/>
          <p:cNvSpPr txBox="true"/>
          <p:nvPr/>
        </p:nvSpPr>
        <p:spPr>
          <a:xfrm rot="0">
            <a:off x="12573793" y="187325"/>
            <a:ext cx="5282369" cy="372745"/>
          </a:xfrm>
          <a:prstGeom prst="rect">
            <a:avLst/>
          </a:prstGeom>
        </p:spPr>
        <p:txBody>
          <a:bodyPr anchor="t" rtlCol="false" tIns="0" lIns="0" bIns="0" rIns="0">
            <a:spAutoFit/>
          </a:bodyPr>
          <a:lstStyle/>
          <a:p>
            <a:pPr algn="ctr">
              <a:lnSpc>
                <a:spcPts val="3079"/>
              </a:lnSpc>
              <a:spcBef>
                <a:spcPct val="0"/>
              </a:spcBef>
            </a:pPr>
            <a:r>
              <a:rPr lang="en-US" sz="2199">
                <a:solidFill>
                  <a:srgbClr val="FFFFFF"/>
                </a:solidFill>
                <a:latin typeface="Montserrat"/>
                <a:ea typeface="Montserrat"/>
                <a:cs typeface="Montserrat"/>
                <a:sym typeface="Montserrat"/>
              </a:rPr>
              <a:t> 5. Loan Count by Grade</a:t>
            </a:r>
          </a:p>
        </p:txBody>
      </p:sp>
      <p:sp>
        <p:nvSpPr>
          <p:cNvPr name="TextBox 20" id="20"/>
          <p:cNvSpPr txBox="true"/>
          <p:nvPr/>
        </p:nvSpPr>
        <p:spPr>
          <a:xfrm rot="0">
            <a:off x="412244" y="4169255"/>
            <a:ext cx="5282369" cy="372745"/>
          </a:xfrm>
          <a:prstGeom prst="rect">
            <a:avLst/>
          </a:prstGeom>
        </p:spPr>
        <p:txBody>
          <a:bodyPr anchor="t" rtlCol="false" tIns="0" lIns="0" bIns="0" rIns="0">
            <a:spAutoFit/>
          </a:bodyPr>
          <a:lstStyle/>
          <a:p>
            <a:pPr algn="ctr">
              <a:lnSpc>
                <a:spcPts val="3079"/>
              </a:lnSpc>
              <a:spcBef>
                <a:spcPct val="0"/>
              </a:spcBef>
            </a:pPr>
            <a:r>
              <a:rPr lang="en-US" sz="2199">
                <a:solidFill>
                  <a:srgbClr val="FFFFFF"/>
                </a:solidFill>
                <a:latin typeface="Montserrat"/>
                <a:ea typeface="Montserrat"/>
                <a:cs typeface="Montserrat"/>
                <a:sym typeface="Montserrat"/>
              </a:rPr>
              <a:t>6. Loan Amount by Purpose</a:t>
            </a:r>
          </a:p>
        </p:txBody>
      </p:sp>
      <p:sp>
        <p:nvSpPr>
          <p:cNvPr name="TextBox 21" id="21"/>
          <p:cNvSpPr txBox="true"/>
          <p:nvPr/>
        </p:nvSpPr>
        <p:spPr>
          <a:xfrm rot="0">
            <a:off x="5986500" y="5105400"/>
            <a:ext cx="6450850" cy="356235"/>
          </a:xfrm>
          <a:prstGeom prst="rect">
            <a:avLst/>
          </a:prstGeom>
        </p:spPr>
        <p:txBody>
          <a:bodyPr anchor="t" rtlCol="false" tIns="0" lIns="0" bIns="0" rIns="0">
            <a:spAutoFit/>
          </a:bodyPr>
          <a:lstStyle/>
          <a:p>
            <a:pPr algn="ctr">
              <a:lnSpc>
                <a:spcPts val="2939"/>
              </a:lnSpc>
              <a:spcBef>
                <a:spcPct val="0"/>
              </a:spcBef>
            </a:pPr>
            <a:r>
              <a:rPr lang="en-US" sz="2099">
                <a:solidFill>
                  <a:srgbClr val="FFFFFF"/>
                </a:solidFill>
                <a:latin typeface="Montserrat"/>
                <a:ea typeface="Montserrat"/>
                <a:cs typeface="Montserrat"/>
                <a:sym typeface="Montserrat"/>
              </a:rPr>
              <a:t>7. Loan Status Summary (KPI for dashboard)</a:t>
            </a:r>
          </a:p>
        </p:txBody>
      </p:sp>
      <p:sp>
        <p:nvSpPr>
          <p:cNvPr name="TextBox 22" id="22"/>
          <p:cNvSpPr txBox="true"/>
          <p:nvPr/>
        </p:nvSpPr>
        <p:spPr>
          <a:xfrm rot="0">
            <a:off x="12142819" y="5105400"/>
            <a:ext cx="6450850" cy="356235"/>
          </a:xfrm>
          <a:prstGeom prst="rect">
            <a:avLst/>
          </a:prstGeom>
        </p:spPr>
        <p:txBody>
          <a:bodyPr anchor="t" rtlCol="false" tIns="0" lIns="0" bIns="0" rIns="0">
            <a:spAutoFit/>
          </a:bodyPr>
          <a:lstStyle/>
          <a:p>
            <a:pPr algn="ctr">
              <a:lnSpc>
                <a:spcPts val="2939"/>
              </a:lnSpc>
              <a:spcBef>
                <a:spcPct val="0"/>
              </a:spcBef>
            </a:pPr>
            <a:r>
              <a:rPr lang="en-US" sz="2099">
                <a:solidFill>
                  <a:srgbClr val="FFFFFF"/>
                </a:solidFill>
                <a:latin typeface="Montserrat"/>
                <a:ea typeface="Montserrat"/>
                <a:cs typeface="Montserrat"/>
                <a:sym typeface="Montserrat"/>
              </a:rPr>
              <a:t>8. Total Annual Income of Borrowers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30D33">
                <a:alpha val="100000"/>
              </a:srgbClr>
            </a:gs>
            <a:gs pos="100000">
              <a:srgbClr val="003537">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8154900" y="1659900"/>
            <a:ext cx="223236" cy="22323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4" id="4"/>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grpSp>
        <p:nvGrpSpPr>
          <p:cNvPr name="Group 5" id="5"/>
          <p:cNvGrpSpPr/>
          <p:nvPr/>
        </p:nvGrpSpPr>
        <p:grpSpPr>
          <a:xfrm rot="0">
            <a:off x="15612826" y="3436620"/>
            <a:ext cx="345156" cy="34515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7" id="7"/>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grpSp>
        <p:nvGrpSpPr>
          <p:cNvPr name="Group 8" id="8"/>
          <p:cNvGrpSpPr/>
          <p:nvPr/>
        </p:nvGrpSpPr>
        <p:grpSpPr>
          <a:xfrm rot="0">
            <a:off x="-291680" y="9301438"/>
            <a:ext cx="1971124" cy="197112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10" id="10"/>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sp>
        <p:nvSpPr>
          <p:cNvPr name="Freeform 11" id="11"/>
          <p:cNvSpPr/>
          <p:nvPr/>
        </p:nvSpPr>
        <p:spPr>
          <a:xfrm flipH="false" flipV="false" rot="0">
            <a:off x="240617" y="2771648"/>
            <a:ext cx="6196426" cy="3893476"/>
          </a:xfrm>
          <a:custGeom>
            <a:avLst/>
            <a:gdLst/>
            <a:ahLst/>
            <a:cxnLst/>
            <a:rect r="r" b="b" t="t" l="l"/>
            <a:pathLst>
              <a:path h="3893476" w="6196426">
                <a:moveTo>
                  <a:pt x="0" y="0"/>
                </a:moveTo>
                <a:lnTo>
                  <a:pt x="6196425" y="0"/>
                </a:lnTo>
                <a:lnTo>
                  <a:pt x="6196425" y="3893476"/>
                </a:lnTo>
                <a:lnTo>
                  <a:pt x="0" y="3893476"/>
                </a:lnTo>
                <a:lnTo>
                  <a:pt x="0" y="0"/>
                </a:lnTo>
                <a:close/>
              </a:path>
            </a:pathLst>
          </a:custGeom>
          <a:blipFill>
            <a:blip r:embed="rId2"/>
            <a:stretch>
              <a:fillRect l="0" t="0" r="0" b="0"/>
            </a:stretch>
          </a:blipFill>
        </p:spPr>
      </p:sp>
      <p:sp>
        <p:nvSpPr>
          <p:cNvPr name="Freeform 12" id="12"/>
          <p:cNvSpPr/>
          <p:nvPr/>
        </p:nvSpPr>
        <p:spPr>
          <a:xfrm flipH="false" flipV="false" rot="0">
            <a:off x="7192368" y="2771648"/>
            <a:ext cx="4339598" cy="4409467"/>
          </a:xfrm>
          <a:custGeom>
            <a:avLst/>
            <a:gdLst/>
            <a:ahLst/>
            <a:cxnLst/>
            <a:rect r="r" b="b" t="t" l="l"/>
            <a:pathLst>
              <a:path h="4409467" w="4339598">
                <a:moveTo>
                  <a:pt x="0" y="0"/>
                </a:moveTo>
                <a:lnTo>
                  <a:pt x="4339599" y="0"/>
                </a:lnTo>
                <a:lnTo>
                  <a:pt x="4339599" y="4409467"/>
                </a:lnTo>
                <a:lnTo>
                  <a:pt x="0" y="4409467"/>
                </a:lnTo>
                <a:lnTo>
                  <a:pt x="0" y="0"/>
                </a:lnTo>
                <a:close/>
              </a:path>
            </a:pathLst>
          </a:custGeom>
          <a:blipFill>
            <a:blip r:embed="rId3"/>
            <a:stretch>
              <a:fillRect l="0" t="0" r="0" b="0"/>
            </a:stretch>
          </a:blipFill>
        </p:spPr>
      </p:sp>
      <p:sp>
        <p:nvSpPr>
          <p:cNvPr name="Freeform 13" id="13"/>
          <p:cNvSpPr/>
          <p:nvPr/>
        </p:nvSpPr>
        <p:spPr>
          <a:xfrm flipH="false" flipV="false" rot="0">
            <a:off x="12439719" y="2771648"/>
            <a:ext cx="4972007" cy="4075230"/>
          </a:xfrm>
          <a:custGeom>
            <a:avLst/>
            <a:gdLst/>
            <a:ahLst/>
            <a:cxnLst/>
            <a:rect r="r" b="b" t="t" l="l"/>
            <a:pathLst>
              <a:path h="4075230" w="4972007">
                <a:moveTo>
                  <a:pt x="0" y="0"/>
                </a:moveTo>
                <a:lnTo>
                  <a:pt x="4972007" y="0"/>
                </a:lnTo>
                <a:lnTo>
                  <a:pt x="4972007" y="4075230"/>
                </a:lnTo>
                <a:lnTo>
                  <a:pt x="0" y="4075230"/>
                </a:lnTo>
                <a:lnTo>
                  <a:pt x="0" y="0"/>
                </a:lnTo>
                <a:close/>
              </a:path>
            </a:pathLst>
          </a:custGeom>
          <a:blipFill>
            <a:blip r:embed="rId4"/>
            <a:stretch>
              <a:fillRect l="0" t="0" r="0" b="0"/>
            </a:stretch>
          </a:blipFill>
        </p:spPr>
      </p:sp>
      <p:sp>
        <p:nvSpPr>
          <p:cNvPr name="TextBox 14" id="14"/>
          <p:cNvSpPr txBox="true"/>
          <p:nvPr/>
        </p:nvSpPr>
        <p:spPr>
          <a:xfrm rot="0">
            <a:off x="482792" y="2221232"/>
            <a:ext cx="5575946" cy="1396969"/>
          </a:xfrm>
          <a:prstGeom prst="rect">
            <a:avLst/>
          </a:prstGeom>
        </p:spPr>
        <p:txBody>
          <a:bodyPr anchor="t" rtlCol="false" tIns="0" lIns="0" bIns="0" rIns="0">
            <a:spAutoFit/>
          </a:bodyPr>
          <a:lstStyle/>
          <a:p>
            <a:pPr algn="ctr">
              <a:lnSpc>
                <a:spcPts val="2801"/>
              </a:lnSpc>
            </a:pPr>
            <a:r>
              <a:rPr lang="en-US" sz="2001">
                <a:solidFill>
                  <a:srgbClr val="FFFFFF"/>
                </a:solidFill>
                <a:latin typeface="Garet"/>
                <a:ea typeface="Garet"/>
                <a:cs typeface="Garet"/>
                <a:sym typeface="Garet"/>
              </a:rPr>
              <a:t>9. Average DTI (Debt-to-Income Ratio)</a:t>
            </a:r>
          </a:p>
          <a:p>
            <a:pPr algn="ctr">
              <a:lnSpc>
                <a:spcPts val="2801"/>
              </a:lnSpc>
            </a:pPr>
          </a:p>
          <a:p>
            <a:pPr algn="ctr">
              <a:lnSpc>
                <a:spcPts val="2801"/>
              </a:lnSpc>
            </a:pPr>
          </a:p>
          <a:p>
            <a:pPr algn="ctr">
              <a:lnSpc>
                <a:spcPts val="2801"/>
              </a:lnSpc>
              <a:spcBef>
                <a:spcPct val="0"/>
              </a:spcBef>
            </a:pPr>
          </a:p>
        </p:txBody>
      </p:sp>
      <p:sp>
        <p:nvSpPr>
          <p:cNvPr name="TextBox 15" id="15"/>
          <p:cNvSpPr txBox="true"/>
          <p:nvPr/>
        </p:nvSpPr>
        <p:spPr>
          <a:xfrm rot="0">
            <a:off x="6356027" y="2221232"/>
            <a:ext cx="5575946" cy="339694"/>
          </a:xfrm>
          <a:prstGeom prst="rect">
            <a:avLst/>
          </a:prstGeom>
        </p:spPr>
        <p:txBody>
          <a:bodyPr anchor="t" rtlCol="false" tIns="0" lIns="0" bIns="0" rIns="0">
            <a:spAutoFit/>
          </a:bodyPr>
          <a:lstStyle/>
          <a:p>
            <a:pPr algn="ctr">
              <a:lnSpc>
                <a:spcPts val="2801"/>
              </a:lnSpc>
              <a:spcBef>
                <a:spcPct val="0"/>
              </a:spcBef>
            </a:pPr>
            <a:r>
              <a:rPr lang="en-US" sz="2001">
                <a:solidFill>
                  <a:srgbClr val="FFFFFF"/>
                </a:solidFill>
                <a:latin typeface="Garet"/>
                <a:ea typeface="Garet"/>
                <a:cs typeface="Garet"/>
                <a:sym typeface="Garet"/>
              </a:rPr>
              <a:t> 10. Loan Amount by State</a:t>
            </a:r>
          </a:p>
        </p:txBody>
      </p:sp>
      <p:sp>
        <p:nvSpPr>
          <p:cNvPr name="TextBox 16" id="16"/>
          <p:cNvSpPr txBox="true"/>
          <p:nvPr/>
        </p:nvSpPr>
        <p:spPr>
          <a:xfrm rot="0">
            <a:off x="11683354" y="2372029"/>
            <a:ext cx="5575946" cy="1396969"/>
          </a:xfrm>
          <a:prstGeom prst="rect">
            <a:avLst/>
          </a:prstGeom>
        </p:spPr>
        <p:txBody>
          <a:bodyPr anchor="t" rtlCol="false" tIns="0" lIns="0" bIns="0" rIns="0">
            <a:spAutoFit/>
          </a:bodyPr>
          <a:lstStyle/>
          <a:p>
            <a:pPr algn="ctr">
              <a:lnSpc>
                <a:spcPts val="2801"/>
              </a:lnSpc>
            </a:pPr>
            <a:r>
              <a:rPr lang="en-US" sz="2001">
                <a:solidFill>
                  <a:srgbClr val="FFFFFF"/>
                </a:solidFill>
                <a:latin typeface="Garet"/>
                <a:ea typeface="Garet"/>
                <a:cs typeface="Garet"/>
                <a:sym typeface="Garet"/>
              </a:rPr>
              <a:t>11. Interest Rate by Grade</a:t>
            </a:r>
          </a:p>
          <a:p>
            <a:pPr algn="ctr">
              <a:lnSpc>
                <a:spcPts val="2801"/>
              </a:lnSpc>
            </a:pPr>
          </a:p>
          <a:p>
            <a:pPr algn="ctr">
              <a:lnSpc>
                <a:spcPts val="2801"/>
              </a:lnSpc>
            </a:pPr>
          </a:p>
          <a:p>
            <a:pPr algn="ctr">
              <a:lnSpc>
                <a:spcPts val="2801"/>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30D33">
                <a:alpha val="100000"/>
              </a:srgbClr>
            </a:gs>
            <a:gs pos="100000">
              <a:srgbClr val="003537">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9983700" y="1325788"/>
            <a:ext cx="223236" cy="22323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4" id="4"/>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grpSp>
        <p:nvGrpSpPr>
          <p:cNvPr name="Group 5" id="5"/>
          <p:cNvGrpSpPr/>
          <p:nvPr/>
        </p:nvGrpSpPr>
        <p:grpSpPr>
          <a:xfrm rot="0">
            <a:off x="16684564" y="5959748"/>
            <a:ext cx="345156" cy="34515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7" id="7"/>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grpSp>
        <p:nvGrpSpPr>
          <p:cNvPr name="Group 8" id="8"/>
          <p:cNvGrpSpPr/>
          <p:nvPr/>
        </p:nvGrpSpPr>
        <p:grpSpPr>
          <a:xfrm rot="0">
            <a:off x="16684564" y="9301438"/>
            <a:ext cx="1971124" cy="197112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10" id="10"/>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sp>
        <p:nvSpPr>
          <p:cNvPr name="Freeform 11" id="11"/>
          <p:cNvSpPr/>
          <p:nvPr/>
        </p:nvSpPr>
        <p:spPr>
          <a:xfrm flipH="false" flipV="false" rot="0">
            <a:off x="504394" y="854531"/>
            <a:ext cx="3932798" cy="5105217"/>
          </a:xfrm>
          <a:custGeom>
            <a:avLst/>
            <a:gdLst/>
            <a:ahLst/>
            <a:cxnLst/>
            <a:rect r="r" b="b" t="t" l="l"/>
            <a:pathLst>
              <a:path h="5105217" w="3932798">
                <a:moveTo>
                  <a:pt x="0" y="0"/>
                </a:moveTo>
                <a:lnTo>
                  <a:pt x="3932798" y="0"/>
                </a:lnTo>
                <a:lnTo>
                  <a:pt x="3932798" y="5105217"/>
                </a:lnTo>
                <a:lnTo>
                  <a:pt x="0" y="5105217"/>
                </a:lnTo>
                <a:lnTo>
                  <a:pt x="0" y="0"/>
                </a:lnTo>
                <a:close/>
              </a:path>
            </a:pathLst>
          </a:custGeom>
          <a:blipFill>
            <a:blip r:embed="rId2"/>
            <a:stretch>
              <a:fillRect l="0" t="0" r="0" b="0"/>
            </a:stretch>
          </a:blipFill>
        </p:spPr>
      </p:sp>
      <p:sp>
        <p:nvSpPr>
          <p:cNvPr name="Freeform 12" id="12"/>
          <p:cNvSpPr/>
          <p:nvPr/>
        </p:nvSpPr>
        <p:spPr>
          <a:xfrm flipH="false" flipV="false" rot="0">
            <a:off x="7914558" y="854531"/>
            <a:ext cx="8534361" cy="3655030"/>
          </a:xfrm>
          <a:custGeom>
            <a:avLst/>
            <a:gdLst/>
            <a:ahLst/>
            <a:cxnLst/>
            <a:rect r="r" b="b" t="t" l="l"/>
            <a:pathLst>
              <a:path h="3655030" w="8534361">
                <a:moveTo>
                  <a:pt x="0" y="0"/>
                </a:moveTo>
                <a:lnTo>
                  <a:pt x="8534362" y="0"/>
                </a:lnTo>
                <a:lnTo>
                  <a:pt x="8534362" y="3655030"/>
                </a:lnTo>
                <a:lnTo>
                  <a:pt x="0" y="3655030"/>
                </a:lnTo>
                <a:lnTo>
                  <a:pt x="0" y="0"/>
                </a:lnTo>
                <a:close/>
              </a:path>
            </a:pathLst>
          </a:custGeom>
          <a:blipFill>
            <a:blip r:embed="rId3"/>
            <a:stretch>
              <a:fillRect l="0" t="0" r="0" b="0"/>
            </a:stretch>
          </a:blipFill>
        </p:spPr>
      </p:sp>
      <p:sp>
        <p:nvSpPr>
          <p:cNvPr name="Freeform 13" id="13"/>
          <p:cNvSpPr/>
          <p:nvPr/>
        </p:nvSpPr>
        <p:spPr>
          <a:xfrm flipH="false" flipV="false" rot="0">
            <a:off x="7939280" y="5716414"/>
            <a:ext cx="5243195" cy="3959704"/>
          </a:xfrm>
          <a:custGeom>
            <a:avLst/>
            <a:gdLst/>
            <a:ahLst/>
            <a:cxnLst/>
            <a:rect r="r" b="b" t="t" l="l"/>
            <a:pathLst>
              <a:path h="3959704" w="5243195">
                <a:moveTo>
                  <a:pt x="0" y="0"/>
                </a:moveTo>
                <a:lnTo>
                  <a:pt x="5243195" y="0"/>
                </a:lnTo>
                <a:lnTo>
                  <a:pt x="5243195" y="3959704"/>
                </a:lnTo>
                <a:lnTo>
                  <a:pt x="0" y="3959704"/>
                </a:lnTo>
                <a:lnTo>
                  <a:pt x="0" y="0"/>
                </a:lnTo>
                <a:close/>
              </a:path>
            </a:pathLst>
          </a:custGeom>
          <a:blipFill>
            <a:blip r:embed="rId4"/>
            <a:stretch>
              <a:fillRect l="0" t="0" r="0" b="0"/>
            </a:stretch>
          </a:blipFill>
        </p:spPr>
      </p:sp>
      <p:sp>
        <p:nvSpPr>
          <p:cNvPr name="TextBox 14" id="14"/>
          <p:cNvSpPr txBox="true"/>
          <p:nvPr/>
        </p:nvSpPr>
        <p:spPr>
          <a:xfrm rot="0">
            <a:off x="153196" y="319140"/>
            <a:ext cx="7586350" cy="413901"/>
          </a:xfrm>
          <a:prstGeom prst="rect">
            <a:avLst/>
          </a:prstGeom>
        </p:spPr>
        <p:txBody>
          <a:bodyPr anchor="t" rtlCol="false" tIns="0" lIns="0" bIns="0" rIns="0">
            <a:spAutoFit/>
          </a:bodyPr>
          <a:lstStyle/>
          <a:p>
            <a:pPr algn="l">
              <a:lnSpc>
                <a:spcPts val="3436"/>
              </a:lnSpc>
            </a:pPr>
            <a:r>
              <a:rPr lang="en-US" sz="2454" b="true">
                <a:solidFill>
                  <a:srgbClr val="FFFFFF"/>
                </a:solidFill>
                <a:latin typeface="Montserrat Bold"/>
                <a:ea typeface="Montserrat Bold"/>
                <a:cs typeface="Montserrat Bold"/>
                <a:sym typeface="Montserrat Bold"/>
              </a:rPr>
              <a:t>12. Loan Volume Over Time (by issue date)</a:t>
            </a:r>
          </a:p>
        </p:txBody>
      </p:sp>
      <p:sp>
        <p:nvSpPr>
          <p:cNvPr name="TextBox 15" id="15"/>
          <p:cNvSpPr txBox="true"/>
          <p:nvPr/>
        </p:nvSpPr>
        <p:spPr>
          <a:xfrm rot="0">
            <a:off x="8079346" y="319140"/>
            <a:ext cx="7586350" cy="413901"/>
          </a:xfrm>
          <a:prstGeom prst="rect">
            <a:avLst/>
          </a:prstGeom>
        </p:spPr>
        <p:txBody>
          <a:bodyPr anchor="t" rtlCol="false" tIns="0" lIns="0" bIns="0" rIns="0">
            <a:spAutoFit/>
          </a:bodyPr>
          <a:lstStyle/>
          <a:p>
            <a:pPr algn="l">
              <a:lnSpc>
                <a:spcPts val="3436"/>
              </a:lnSpc>
            </a:pPr>
            <a:r>
              <a:rPr lang="en-US" sz="2454" b="true">
                <a:solidFill>
                  <a:srgbClr val="FFFFFF"/>
                </a:solidFill>
                <a:latin typeface="Montserrat Bold"/>
                <a:ea typeface="Montserrat Bold"/>
                <a:cs typeface="Montserrat Bold"/>
                <a:sym typeface="Montserrat Bold"/>
              </a:rPr>
              <a:t> 13. Default Rate by Grade</a:t>
            </a:r>
          </a:p>
        </p:txBody>
      </p:sp>
      <p:sp>
        <p:nvSpPr>
          <p:cNvPr name="TextBox 16" id="16"/>
          <p:cNvSpPr txBox="true"/>
          <p:nvPr/>
        </p:nvSpPr>
        <p:spPr>
          <a:xfrm rot="0">
            <a:off x="7939280" y="5095875"/>
            <a:ext cx="7586350" cy="413901"/>
          </a:xfrm>
          <a:prstGeom prst="rect">
            <a:avLst/>
          </a:prstGeom>
        </p:spPr>
        <p:txBody>
          <a:bodyPr anchor="t" rtlCol="false" tIns="0" lIns="0" bIns="0" rIns="0">
            <a:spAutoFit/>
          </a:bodyPr>
          <a:lstStyle/>
          <a:p>
            <a:pPr algn="l">
              <a:lnSpc>
                <a:spcPts val="3436"/>
              </a:lnSpc>
            </a:pPr>
            <a:r>
              <a:rPr lang="en-US" sz="2454" b="true">
                <a:solidFill>
                  <a:srgbClr val="FFFFFF"/>
                </a:solidFill>
                <a:latin typeface="Montserrat Bold"/>
                <a:ea typeface="Montserrat Bold"/>
                <a:cs typeface="Montserrat Bold"/>
                <a:sym typeface="Montserrat Bold"/>
              </a:rPr>
              <a:t> 14. Employment Length Impact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30D33">
                <a:alpha val="100000"/>
              </a:srgbClr>
            </a:gs>
            <a:gs pos="100000">
              <a:srgbClr val="003537">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8789227" y="1714563"/>
            <a:ext cx="223236" cy="22323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4" id="4"/>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grpSp>
        <p:nvGrpSpPr>
          <p:cNvPr name="Group 5" id="5"/>
          <p:cNvGrpSpPr/>
          <p:nvPr/>
        </p:nvGrpSpPr>
        <p:grpSpPr>
          <a:xfrm rot="0">
            <a:off x="18070568" y="5028591"/>
            <a:ext cx="434864" cy="434864"/>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7" id="7"/>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grpSp>
        <p:nvGrpSpPr>
          <p:cNvPr name="Group 8" id="8"/>
          <p:cNvGrpSpPr/>
          <p:nvPr/>
        </p:nvGrpSpPr>
        <p:grpSpPr>
          <a:xfrm rot="0">
            <a:off x="-320509" y="9301438"/>
            <a:ext cx="1971124" cy="197112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10" id="10"/>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sp>
        <p:nvSpPr>
          <p:cNvPr name="Freeform 11" id="11"/>
          <p:cNvSpPr/>
          <p:nvPr/>
        </p:nvSpPr>
        <p:spPr>
          <a:xfrm flipH="false" flipV="false" rot="0">
            <a:off x="1650615" y="1714563"/>
            <a:ext cx="6967192" cy="2507554"/>
          </a:xfrm>
          <a:custGeom>
            <a:avLst/>
            <a:gdLst/>
            <a:ahLst/>
            <a:cxnLst/>
            <a:rect r="r" b="b" t="t" l="l"/>
            <a:pathLst>
              <a:path h="2507554" w="6967192">
                <a:moveTo>
                  <a:pt x="0" y="0"/>
                </a:moveTo>
                <a:lnTo>
                  <a:pt x="6967192" y="0"/>
                </a:lnTo>
                <a:lnTo>
                  <a:pt x="6967192" y="2507554"/>
                </a:lnTo>
                <a:lnTo>
                  <a:pt x="0" y="2507554"/>
                </a:lnTo>
                <a:lnTo>
                  <a:pt x="0" y="0"/>
                </a:lnTo>
                <a:close/>
              </a:path>
            </a:pathLst>
          </a:custGeom>
          <a:blipFill>
            <a:blip r:embed="rId2"/>
            <a:stretch>
              <a:fillRect l="0" t="0" r="0" b="-2026"/>
            </a:stretch>
          </a:blipFill>
        </p:spPr>
      </p:sp>
      <p:sp>
        <p:nvSpPr>
          <p:cNvPr name="Freeform 12" id="12"/>
          <p:cNvSpPr/>
          <p:nvPr/>
        </p:nvSpPr>
        <p:spPr>
          <a:xfrm flipH="false" flipV="false" rot="0">
            <a:off x="9978049" y="1544562"/>
            <a:ext cx="7584213" cy="2897789"/>
          </a:xfrm>
          <a:custGeom>
            <a:avLst/>
            <a:gdLst/>
            <a:ahLst/>
            <a:cxnLst/>
            <a:rect r="r" b="b" t="t" l="l"/>
            <a:pathLst>
              <a:path h="2897789" w="7584213">
                <a:moveTo>
                  <a:pt x="0" y="0"/>
                </a:moveTo>
                <a:lnTo>
                  <a:pt x="7584213" y="0"/>
                </a:lnTo>
                <a:lnTo>
                  <a:pt x="7584213" y="2897789"/>
                </a:lnTo>
                <a:lnTo>
                  <a:pt x="0" y="2897789"/>
                </a:lnTo>
                <a:lnTo>
                  <a:pt x="0" y="0"/>
                </a:lnTo>
                <a:close/>
              </a:path>
            </a:pathLst>
          </a:custGeom>
          <a:blipFill>
            <a:blip r:embed="rId3"/>
            <a:stretch>
              <a:fillRect l="0" t="0" r="0" b="0"/>
            </a:stretch>
          </a:blipFill>
        </p:spPr>
      </p:sp>
      <p:sp>
        <p:nvSpPr>
          <p:cNvPr name="Freeform 13" id="13"/>
          <p:cNvSpPr/>
          <p:nvPr/>
        </p:nvSpPr>
        <p:spPr>
          <a:xfrm flipH="false" flipV="false" rot="0">
            <a:off x="10211874" y="5642564"/>
            <a:ext cx="5766055" cy="3001508"/>
          </a:xfrm>
          <a:custGeom>
            <a:avLst/>
            <a:gdLst/>
            <a:ahLst/>
            <a:cxnLst/>
            <a:rect r="r" b="b" t="t" l="l"/>
            <a:pathLst>
              <a:path h="3001508" w="5766055">
                <a:moveTo>
                  <a:pt x="0" y="0"/>
                </a:moveTo>
                <a:lnTo>
                  <a:pt x="5766055" y="0"/>
                </a:lnTo>
                <a:lnTo>
                  <a:pt x="5766055" y="3001508"/>
                </a:lnTo>
                <a:lnTo>
                  <a:pt x="0" y="3001508"/>
                </a:lnTo>
                <a:lnTo>
                  <a:pt x="0" y="0"/>
                </a:lnTo>
                <a:close/>
              </a:path>
            </a:pathLst>
          </a:custGeom>
          <a:blipFill>
            <a:blip r:embed="rId4"/>
            <a:stretch>
              <a:fillRect l="0" t="0" r="0" b="0"/>
            </a:stretch>
          </a:blipFill>
        </p:spPr>
      </p:sp>
      <p:sp>
        <p:nvSpPr>
          <p:cNvPr name="Freeform 14" id="14"/>
          <p:cNvSpPr/>
          <p:nvPr/>
        </p:nvSpPr>
        <p:spPr>
          <a:xfrm flipH="false" flipV="false" rot="0">
            <a:off x="2297400" y="5463454"/>
            <a:ext cx="5069917" cy="4354283"/>
          </a:xfrm>
          <a:custGeom>
            <a:avLst/>
            <a:gdLst/>
            <a:ahLst/>
            <a:cxnLst/>
            <a:rect r="r" b="b" t="t" l="l"/>
            <a:pathLst>
              <a:path h="4354283" w="5069917">
                <a:moveTo>
                  <a:pt x="0" y="0"/>
                </a:moveTo>
                <a:lnTo>
                  <a:pt x="5069917" y="0"/>
                </a:lnTo>
                <a:lnTo>
                  <a:pt x="5069917" y="4354283"/>
                </a:lnTo>
                <a:lnTo>
                  <a:pt x="0" y="4354283"/>
                </a:lnTo>
                <a:lnTo>
                  <a:pt x="0" y="0"/>
                </a:lnTo>
                <a:close/>
              </a:path>
            </a:pathLst>
          </a:custGeom>
          <a:blipFill>
            <a:blip r:embed="rId5"/>
            <a:stretch>
              <a:fillRect l="0" t="0" r="0" b="0"/>
            </a:stretch>
          </a:blipFill>
        </p:spPr>
      </p:sp>
      <p:sp>
        <p:nvSpPr>
          <p:cNvPr name="TextBox 15" id="15"/>
          <p:cNvSpPr txBox="true"/>
          <p:nvPr/>
        </p:nvSpPr>
        <p:spPr>
          <a:xfrm rot="0">
            <a:off x="1381247" y="1173894"/>
            <a:ext cx="6902223" cy="1480185"/>
          </a:xfrm>
          <a:prstGeom prst="rect">
            <a:avLst/>
          </a:prstGeom>
        </p:spPr>
        <p:txBody>
          <a:bodyPr anchor="t" rtlCol="false" tIns="0" lIns="0" bIns="0" rIns="0">
            <a:spAutoFit/>
          </a:bodyPr>
          <a:lstStyle/>
          <a:p>
            <a:pPr algn="ctr">
              <a:lnSpc>
                <a:spcPts val="2939"/>
              </a:lnSpc>
            </a:pPr>
            <a:r>
              <a:rPr lang="en-US" sz="2099">
                <a:solidFill>
                  <a:srgbClr val="FFFFFF"/>
                </a:solidFill>
                <a:latin typeface="Garet"/>
                <a:ea typeface="Garet"/>
                <a:cs typeface="Garet"/>
                <a:sym typeface="Garet"/>
              </a:rPr>
              <a:t>Funded Amount vs Loan Amount Difference</a:t>
            </a:r>
          </a:p>
          <a:p>
            <a:pPr algn="ctr">
              <a:lnSpc>
                <a:spcPts val="2939"/>
              </a:lnSpc>
            </a:pPr>
          </a:p>
          <a:p>
            <a:pPr algn="ctr">
              <a:lnSpc>
                <a:spcPts val="2939"/>
              </a:lnSpc>
            </a:pPr>
          </a:p>
          <a:p>
            <a:pPr algn="ctr">
              <a:lnSpc>
                <a:spcPts val="2939"/>
              </a:lnSpc>
              <a:spcBef>
                <a:spcPct val="0"/>
              </a:spcBef>
            </a:pPr>
          </a:p>
        </p:txBody>
      </p:sp>
      <p:sp>
        <p:nvSpPr>
          <p:cNvPr name="TextBox 16" id="16"/>
          <p:cNvSpPr txBox="true"/>
          <p:nvPr/>
        </p:nvSpPr>
        <p:spPr>
          <a:xfrm rot="0">
            <a:off x="9978049" y="1014827"/>
            <a:ext cx="6902223" cy="365760"/>
          </a:xfrm>
          <a:prstGeom prst="rect">
            <a:avLst/>
          </a:prstGeom>
        </p:spPr>
        <p:txBody>
          <a:bodyPr anchor="t" rtlCol="false" tIns="0" lIns="0" bIns="0" rIns="0">
            <a:spAutoFit/>
          </a:bodyPr>
          <a:lstStyle/>
          <a:p>
            <a:pPr algn="ctr">
              <a:lnSpc>
                <a:spcPts val="2939"/>
              </a:lnSpc>
              <a:spcBef>
                <a:spcPct val="0"/>
              </a:spcBef>
            </a:pPr>
            <a:r>
              <a:rPr lang="en-US" sz="2099">
                <a:solidFill>
                  <a:srgbClr val="FFFFFF"/>
                </a:solidFill>
                <a:latin typeface="Garet"/>
                <a:ea typeface="Garet"/>
                <a:cs typeface="Garet"/>
                <a:sym typeface="Garet"/>
              </a:rPr>
              <a:t>KPI Query Set (for dashboard filters)</a:t>
            </a:r>
          </a:p>
        </p:txBody>
      </p:sp>
      <p:sp>
        <p:nvSpPr>
          <p:cNvPr name="TextBox 17" id="17"/>
          <p:cNvSpPr txBox="true"/>
          <p:nvPr/>
        </p:nvSpPr>
        <p:spPr>
          <a:xfrm rot="0">
            <a:off x="1381247" y="5095875"/>
            <a:ext cx="6902223" cy="1480185"/>
          </a:xfrm>
          <a:prstGeom prst="rect">
            <a:avLst/>
          </a:prstGeom>
        </p:spPr>
        <p:txBody>
          <a:bodyPr anchor="t" rtlCol="false" tIns="0" lIns="0" bIns="0" rIns="0">
            <a:spAutoFit/>
          </a:bodyPr>
          <a:lstStyle/>
          <a:p>
            <a:pPr algn="ctr">
              <a:lnSpc>
                <a:spcPts val="2939"/>
              </a:lnSpc>
            </a:pPr>
            <a:r>
              <a:rPr lang="en-US" sz="2099">
                <a:solidFill>
                  <a:srgbClr val="FFFFFF"/>
                </a:solidFill>
                <a:latin typeface="Garet"/>
                <a:ea typeface="Garet"/>
                <a:cs typeface="Garet"/>
                <a:sym typeface="Garet"/>
              </a:rPr>
              <a:t>Top 10 High-Value Borrowers</a:t>
            </a:r>
          </a:p>
          <a:p>
            <a:pPr algn="ctr">
              <a:lnSpc>
                <a:spcPts val="2939"/>
              </a:lnSpc>
            </a:pPr>
          </a:p>
          <a:p>
            <a:pPr algn="ctr">
              <a:lnSpc>
                <a:spcPts val="2939"/>
              </a:lnSpc>
            </a:pPr>
          </a:p>
          <a:p>
            <a:pPr algn="ctr">
              <a:lnSpc>
                <a:spcPts val="2939"/>
              </a:lnSpc>
              <a:spcBef>
                <a:spcPct val="0"/>
              </a:spcBef>
            </a:pPr>
          </a:p>
        </p:txBody>
      </p:sp>
      <p:sp>
        <p:nvSpPr>
          <p:cNvPr name="TextBox 18" id="18"/>
          <p:cNvSpPr txBox="true"/>
          <p:nvPr/>
        </p:nvSpPr>
        <p:spPr>
          <a:xfrm rot="0">
            <a:off x="9460936" y="5198397"/>
            <a:ext cx="6902223" cy="1480185"/>
          </a:xfrm>
          <a:prstGeom prst="rect">
            <a:avLst/>
          </a:prstGeom>
        </p:spPr>
        <p:txBody>
          <a:bodyPr anchor="t" rtlCol="false" tIns="0" lIns="0" bIns="0" rIns="0">
            <a:spAutoFit/>
          </a:bodyPr>
          <a:lstStyle/>
          <a:p>
            <a:pPr algn="ctr">
              <a:lnSpc>
                <a:spcPts val="2939"/>
              </a:lnSpc>
            </a:pPr>
            <a:r>
              <a:rPr lang="en-US" sz="2099">
                <a:solidFill>
                  <a:srgbClr val="FFFFFF"/>
                </a:solidFill>
                <a:latin typeface="Garet"/>
                <a:ea typeface="Garet"/>
                <a:cs typeface="Garet"/>
                <a:sym typeface="Garet"/>
              </a:rPr>
              <a:t>Full Data Summary</a:t>
            </a:r>
          </a:p>
          <a:p>
            <a:pPr algn="ctr">
              <a:lnSpc>
                <a:spcPts val="2939"/>
              </a:lnSpc>
            </a:pPr>
          </a:p>
          <a:p>
            <a:pPr algn="ctr">
              <a:lnSpc>
                <a:spcPts val="2939"/>
              </a:lnSpc>
            </a:pPr>
          </a:p>
          <a:p>
            <a:pPr algn="ctr">
              <a:lnSpc>
                <a:spcPts val="2939"/>
              </a:lnSpc>
              <a:spcBef>
                <a:spcPct val="0"/>
              </a:spcBef>
            </a:pPr>
          </a:p>
        </p:txBody>
      </p:sp>
    </p:spTree>
  </p:cSld>
  <p:clrMapOvr>
    <a:masterClrMapping/>
  </p:clrMapOvr>
</p:sld>
</file>

<file path=ppt/slides/slide12.xml><?xml version="1.0" encoding="utf-8"?>
<p:sld xmlns:p="http://schemas.openxmlformats.org/presentationml/2006/main" xmlns:a="http://schemas.openxmlformats.org/drawingml/2006/main">
  <p:cSld>
    <p:bg>
      <p:bgPr>
        <a:gradFill rotWithShape="true">
          <a:gsLst>
            <a:gs pos="0">
              <a:srgbClr val="030D33">
                <a:alpha val="100000"/>
              </a:srgbClr>
            </a:gs>
            <a:gs pos="100000">
              <a:srgbClr val="003537">
                <a:alpha val="100000"/>
              </a:srgbClr>
            </a:gs>
          </a:gsLst>
          <a:lin ang="0"/>
        </a:gradFill>
      </p:bgPr>
    </p:bg>
    <p:spTree>
      <p:nvGrpSpPr>
        <p:cNvPr id="1" name=""/>
        <p:cNvGrpSpPr/>
        <p:nvPr/>
      </p:nvGrpSpPr>
      <p:grpSpPr>
        <a:xfrm>
          <a:off x="0" y="0"/>
          <a:ext cx="0" cy="0"/>
          <a:chOff x="0" y="0"/>
          <a:chExt cx="0" cy="0"/>
        </a:xfrm>
      </p:grpSpPr>
      <p:sp>
        <p:nvSpPr>
          <p:cNvPr name="TextBox 2" id="2"/>
          <p:cNvSpPr txBox="true"/>
          <p:nvPr/>
        </p:nvSpPr>
        <p:spPr>
          <a:xfrm rot="0">
            <a:off x="1028700" y="1974702"/>
            <a:ext cx="13737269" cy="4936388"/>
          </a:xfrm>
          <a:prstGeom prst="rect">
            <a:avLst/>
          </a:prstGeom>
        </p:spPr>
        <p:txBody>
          <a:bodyPr anchor="t" rtlCol="false" tIns="0" lIns="0" bIns="0" rIns="0">
            <a:spAutoFit/>
          </a:bodyPr>
          <a:lstStyle/>
          <a:p>
            <a:pPr algn="l">
              <a:lnSpc>
                <a:spcPts val="6617"/>
              </a:lnSpc>
            </a:pPr>
            <a:r>
              <a:rPr lang="en-US" sz="2780" spc="58">
                <a:solidFill>
                  <a:srgbClr val="FFFFFF"/>
                </a:solidFill>
                <a:latin typeface="Montserrat"/>
                <a:ea typeface="Montserrat"/>
                <a:cs typeface="Montserrat"/>
                <a:sym typeface="Montserrat"/>
              </a:rPr>
              <a:t> 💡 Increase loan allocation to mid-risk segments (Grades B &amp; C)</a:t>
            </a:r>
          </a:p>
          <a:p>
            <a:pPr algn="l">
              <a:lnSpc>
                <a:spcPts val="6617"/>
              </a:lnSpc>
            </a:pPr>
            <a:r>
              <a:rPr lang="en-US" sz="2780" spc="58">
                <a:solidFill>
                  <a:srgbClr val="FFFFFF"/>
                </a:solidFill>
                <a:latin typeface="Montserrat"/>
                <a:ea typeface="Montserrat"/>
                <a:cs typeface="Montserrat"/>
                <a:sym typeface="Montserrat"/>
              </a:rPr>
              <a:t> 💡 Encourage verified applications to minimise repayment uncertainty</a:t>
            </a:r>
          </a:p>
          <a:p>
            <a:pPr algn="l">
              <a:lnSpc>
                <a:spcPts val="6617"/>
              </a:lnSpc>
            </a:pPr>
            <a:r>
              <a:rPr lang="en-US" sz="2780" spc="58">
                <a:solidFill>
                  <a:srgbClr val="FFFFFF"/>
                </a:solidFill>
                <a:latin typeface="Montserrat"/>
                <a:ea typeface="Montserrat"/>
                <a:cs typeface="Montserrat"/>
                <a:sym typeface="Montserrat"/>
              </a:rPr>
              <a:t> 💡 Provide personalised repayment plans for mortgage borrowers</a:t>
            </a:r>
          </a:p>
          <a:p>
            <a:pPr algn="l">
              <a:lnSpc>
                <a:spcPts val="6617"/>
              </a:lnSpc>
            </a:pPr>
            <a:r>
              <a:rPr lang="en-US" sz="2780" spc="58">
                <a:solidFill>
                  <a:srgbClr val="FFFFFF"/>
                </a:solidFill>
                <a:latin typeface="Montserrat"/>
                <a:ea typeface="Montserrat"/>
                <a:cs typeface="Montserrat"/>
                <a:sym typeface="Montserrat"/>
              </a:rPr>
              <a:t> 💡 Strengthen credit monitoring in low-performing states</a:t>
            </a:r>
          </a:p>
          <a:p>
            <a:pPr algn="l">
              <a:lnSpc>
                <a:spcPts val="6617"/>
              </a:lnSpc>
            </a:pPr>
            <a:r>
              <a:rPr lang="en-US" sz="2780" spc="58">
                <a:solidFill>
                  <a:srgbClr val="FFFFFF"/>
                </a:solidFill>
                <a:latin typeface="Montserrat"/>
                <a:ea typeface="Montserrat"/>
                <a:cs typeface="Montserrat"/>
                <a:sym typeface="Montserrat"/>
              </a:rPr>
              <a:t> 💡 Design targeted strategies for non-verified &amp; low-grade borrowers</a:t>
            </a:r>
          </a:p>
          <a:p>
            <a:pPr algn="l">
              <a:lnSpc>
                <a:spcPts val="6617"/>
              </a:lnSpc>
            </a:pPr>
          </a:p>
        </p:txBody>
      </p:sp>
      <p:sp>
        <p:nvSpPr>
          <p:cNvPr name="TextBox 3" id="3"/>
          <p:cNvSpPr txBox="true"/>
          <p:nvPr/>
        </p:nvSpPr>
        <p:spPr>
          <a:xfrm rot="0">
            <a:off x="4579294" y="1028700"/>
            <a:ext cx="9129412" cy="666750"/>
          </a:xfrm>
          <a:prstGeom prst="rect">
            <a:avLst/>
          </a:prstGeom>
        </p:spPr>
        <p:txBody>
          <a:bodyPr anchor="t" rtlCol="false" tIns="0" lIns="0" bIns="0" rIns="0">
            <a:spAutoFit/>
          </a:bodyPr>
          <a:lstStyle/>
          <a:p>
            <a:pPr algn="l">
              <a:lnSpc>
                <a:spcPts val="5257"/>
              </a:lnSpc>
            </a:pPr>
            <a:r>
              <a:rPr lang="en-US" sz="4380" b="true">
                <a:solidFill>
                  <a:srgbClr val="FFFFFF"/>
                </a:solidFill>
                <a:latin typeface="Montserrat Bold"/>
                <a:ea typeface="Montserrat Bold"/>
                <a:cs typeface="Montserrat Bold"/>
                <a:sym typeface="Montserrat Bold"/>
              </a:rPr>
              <a:t>Recommendations for Banks</a:t>
            </a:r>
          </a:p>
        </p:txBody>
      </p:sp>
      <p:grpSp>
        <p:nvGrpSpPr>
          <p:cNvPr name="Group 4" id="4"/>
          <p:cNvGrpSpPr/>
          <p:nvPr/>
        </p:nvGrpSpPr>
        <p:grpSpPr>
          <a:xfrm rot="0">
            <a:off x="10133555" y="1808616"/>
            <a:ext cx="223236" cy="223236"/>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6" id="6"/>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grpSp>
        <p:nvGrpSpPr>
          <p:cNvPr name="Group 7" id="7"/>
          <p:cNvGrpSpPr/>
          <p:nvPr/>
        </p:nvGrpSpPr>
        <p:grpSpPr>
          <a:xfrm rot="0">
            <a:off x="16109828" y="6802405"/>
            <a:ext cx="345156" cy="345156"/>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9" id="9"/>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grpSp>
        <p:nvGrpSpPr>
          <p:cNvPr name="Group 10" id="10"/>
          <p:cNvGrpSpPr/>
          <p:nvPr/>
        </p:nvGrpSpPr>
        <p:grpSpPr>
          <a:xfrm rot="0">
            <a:off x="16684564" y="9301438"/>
            <a:ext cx="1971124" cy="1971124"/>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12" id="12"/>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grpSp>
        <p:nvGrpSpPr>
          <p:cNvPr name="Group 13" id="13"/>
          <p:cNvGrpSpPr/>
          <p:nvPr/>
        </p:nvGrpSpPr>
        <p:grpSpPr>
          <a:xfrm rot="0">
            <a:off x="-637762" y="-609049"/>
            <a:ext cx="1971124" cy="1971124"/>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15" id="15"/>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spTree>
  </p:cSld>
  <p:clrMapOvr>
    <a:masterClrMapping/>
  </p:clrMapOvr>
</p:sld>
</file>

<file path=ppt/slides/slide13.xml><?xml version="1.0" encoding="utf-8"?>
<p:sld xmlns:p="http://schemas.openxmlformats.org/presentationml/2006/main" xmlns:a="http://schemas.openxmlformats.org/drawingml/2006/main">
  <p:cSld>
    <p:bg>
      <p:bgPr>
        <a:gradFill rotWithShape="true">
          <a:gsLst>
            <a:gs pos="0">
              <a:srgbClr val="030D33">
                <a:alpha val="100000"/>
              </a:srgbClr>
            </a:gs>
            <a:gs pos="100000">
              <a:srgbClr val="003537">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a:off x="4765560" y="7841682"/>
            <a:ext cx="6337256" cy="0"/>
          </a:xfrm>
          <a:prstGeom prst="line">
            <a:avLst/>
          </a:prstGeom>
          <a:ln cap="flat" w="66675">
            <a:gradFill>
              <a:gsLst>
                <a:gs pos="0">
                  <a:srgbClr val="4EA46A">
                    <a:alpha val="100000"/>
                  </a:srgbClr>
                </a:gs>
                <a:gs pos="100000">
                  <a:srgbClr val="005C57">
                    <a:alpha val="100000"/>
                  </a:srgbClr>
                </a:gs>
              </a:gsLst>
              <a:lin ang="0"/>
            </a:gradFill>
            <a:prstDash val="solid"/>
            <a:headEnd type="none" len="sm" w="sm"/>
            <a:tailEnd type="none" len="sm" w="sm"/>
          </a:ln>
        </p:spPr>
      </p:sp>
      <p:grpSp>
        <p:nvGrpSpPr>
          <p:cNvPr name="Group 3" id="3"/>
          <p:cNvGrpSpPr/>
          <p:nvPr/>
        </p:nvGrpSpPr>
        <p:grpSpPr>
          <a:xfrm rot="0">
            <a:off x="1880696" y="7473060"/>
            <a:ext cx="3047228" cy="737246"/>
            <a:chOff x="0" y="0"/>
            <a:chExt cx="1679757" cy="406400"/>
          </a:xfrm>
        </p:grpSpPr>
        <p:sp>
          <p:nvSpPr>
            <p:cNvPr name="Freeform 4" id="4"/>
            <p:cNvSpPr/>
            <p:nvPr/>
          </p:nvSpPr>
          <p:spPr>
            <a:xfrm flipH="false" flipV="false" rot="0">
              <a:off x="0" y="0"/>
              <a:ext cx="1679757" cy="406400"/>
            </a:xfrm>
            <a:custGeom>
              <a:avLst/>
              <a:gdLst/>
              <a:ahLst/>
              <a:cxnLst/>
              <a:rect r="r" b="b" t="t" l="l"/>
              <a:pathLst>
                <a:path h="406400" w="1679757">
                  <a:moveTo>
                    <a:pt x="1476557" y="0"/>
                  </a:moveTo>
                  <a:cubicBezTo>
                    <a:pt x="1588781" y="0"/>
                    <a:pt x="1679757" y="90976"/>
                    <a:pt x="1679757" y="203200"/>
                  </a:cubicBezTo>
                  <a:cubicBezTo>
                    <a:pt x="1679757" y="315424"/>
                    <a:pt x="1588781" y="406400"/>
                    <a:pt x="1476557"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4EA46A">
                    <a:alpha val="100000"/>
                  </a:srgbClr>
                </a:gs>
                <a:gs pos="100000">
                  <a:srgbClr val="005C57">
                    <a:alpha val="100000"/>
                  </a:srgbClr>
                </a:gs>
              </a:gsLst>
              <a:lin ang="0"/>
            </a:gradFill>
            <a:ln cap="sq">
              <a:noFill/>
              <a:prstDash val="solid"/>
              <a:miter/>
            </a:ln>
          </p:spPr>
        </p:sp>
        <p:sp>
          <p:nvSpPr>
            <p:cNvPr name="TextBox 5" id="5"/>
            <p:cNvSpPr txBox="true"/>
            <p:nvPr/>
          </p:nvSpPr>
          <p:spPr>
            <a:xfrm>
              <a:off x="0" y="-47625"/>
              <a:ext cx="1679757" cy="454025"/>
            </a:xfrm>
            <a:prstGeom prst="rect">
              <a:avLst/>
            </a:prstGeom>
          </p:spPr>
          <p:txBody>
            <a:bodyPr anchor="ctr" rtlCol="false" tIns="31690" lIns="31690" bIns="31690" rIns="31690"/>
            <a:lstStyle/>
            <a:p>
              <a:pPr algn="ctr" marL="0" indent="0" lvl="0">
                <a:lnSpc>
                  <a:spcPts val="3220"/>
                </a:lnSpc>
                <a:spcBef>
                  <a:spcPct val="0"/>
                </a:spcBef>
              </a:pPr>
            </a:p>
          </p:txBody>
        </p:sp>
      </p:grpSp>
      <p:sp>
        <p:nvSpPr>
          <p:cNvPr name="TextBox 6" id="6"/>
          <p:cNvSpPr txBox="true"/>
          <p:nvPr/>
        </p:nvSpPr>
        <p:spPr>
          <a:xfrm rot="0">
            <a:off x="1880696" y="3252136"/>
            <a:ext cx="12682850" cy="3748687"/>
          </a:xfrm>
          <a:prstGeom prst="rect">
            <a:avLst/>
          </a:prstGeom>
        </p:spPr>
        <p:txBody>
          <a:bodyPr anchor="t" rtlCol="false" tIns="0" lIns="0" bIns="0" rIns="0">
            <a:spAutoFit/>
          </a:bodyPr>
          <a:lstStyle/>
          <a:p>
            <a:pPr algn="l">
              <a:lnSpc>
                <a:spcPts val="14635"/>
              </a:lnSpc>
            </a:pPr>
            <a:r>
              <a:rPr lang="en-US" sz="13304" b="true">
                <a:solidFill>
                  <a:srgbClr val="FFFFFF"/>
                </a:solidFill>
                <a:latin typeface="Montserrat Bold"/>
                <a:ea typeface="Montserrat Bold"/>
                <a:cs typeface="Montserrat Bold"/>
                <a:sym typeface="Montserrat Bold"/>
              </a:rPr>
              <a:t>Thank You For Attention</a:t>
            </a:r>
          </a:p>
        </p:txBody>
      </p:sp>
      <p:grpSp>
        <p:nvGrpSpPr>
          <p:cNvPr name="Group 7" id="7"/>
          <p:cNvGrpSpPr/>
          <p:nvPr/>
        </p:nvGrpSpPr>
        <p:grpSpPr>
          <a:xfrm rot="0">
            <a:off x="1254367" y="8594705"/>
            <a:ext cx="425077" cy="425077"/>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9" id="9"/>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grpSp>
        <p:nvGrpSpPr>
          <p:cNvPr name="Group 10" id="10"/>
          <p:cNvGrpSpPr/>
          <p:nvPr/>
        </p:nvGrpSpPr>
        <p:grpSpPr>
          <a:xfrm rot="0">
            <a:off x="7382629" y="9054460"/>
            <a:ext cx="203840" cy="20384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12" id="12"/>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grpSp>
        <p:nvGrpSpPr>
          <p:cNvPr name="Group 13" id="13"/>
          <p:cNvGrpSpPr/>
          <p:nvPr/>
        </p:nvGrpSpPr>
        <p:grpSpPr>
          <a:xfrm rot="0">
            <a:off x="13836531" y="3923285"/>
            <a:ext cx="412262" cy="412262"/>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15" id="15"/>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grpSp>
        <p:nvGrpSpPr>
          <p:cNvPr name="Group 16" id="16"/>
          <p:cNvGrpSpPr/>
          <p:nvPr/>
        </p:nvGrpSpPr>
        <p:grpSpPr>
          <a:xfrm rot="0">
            <a:off x="-418546" y="8807243"/>
            <a:ext cx="1971124" cy="1971124"/>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18" id="18"/>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DAG5-9RNf9M</dc:identifier>
  <dcterms:modified xsi:type="dcterms:W3CDTF">2011-08-01T06:04:30Z</dcterms:modified>
  <cp:revision>1</cp:revision>
  <dc:title>Bank Analytics Project Group Number: 6</dc:title>
</cp:coreProperties>
</file>